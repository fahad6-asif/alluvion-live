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1" r:id="rId6"/>
    <p:sldId id="260" r:id="rId7"/>
    <p:sldId id="262" r:id="rId8"/>
    <p:sldId id="263" r:id="rId9"/>
    <p:sldId id="264" r:id="rId10"/>
    <p:sldId id="266" r:id="rId11"/>
    <p:sldId id="267"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7" d="100"/>
          <a:sy n="97" d="100"/>
        </p:scale>
        <p:origin x="115"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51948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CFA"/>
        </a:solidFill>
        <a:effectLst/>
      </p:bgPr>
    </p:bg>
    <p:spTree>
      <p:nvGrpSpPr>
        <p:cNvPr id="1" name=""/>
        <p:cNvGrpSpPr/>
        <p:nvPr/>
      </p:nvGrpSpPr>
      <p:grpSpPr>
        <a:xfrm>
          <a:off x="0" y="0"/>
          <a:ext cx="0" cy="0"/>
          <a:chOff x="0" y="0"/>
          <a:chExt cx="0" cy="0"/>
        </a:xfrm>
      </p:grpSpPr>
      <p:pic>
        <p:nvPicPr>
          <p:cNvPr id="2" name="Image 0" descr="assets/hero_canyon_c.png"/>
          <p:cNvPicPr>
            <a:picLocks noChangeAspect="1"/>
          </p:cNvPicPr>
          <p:nvPr/>
        </p:nvPicPr>
        <p:blipFill>
          <a:blip r:embed="rId3"/>
          <a:stretch>
            <a:fillRect/>
          </a:stretch>
        </p:blipFill>
        <p:spPr>
          <a:xfrm>
            <a:off x="7551115" y="502920"/>
            <a:ext cx="4251960" cy="5852160"/>
          </a:xfrm>
          <a:prstGeom prst="rect">
            <a:avLst/>
          </a:prstGeom>
          <a:effectLst>
            <a:outerShdw blurRad="165100" dist="38100" dir="5400000" algn="bl" rotWithShape="0">
              <a:srgbClr val="2B3B30">
                <a:alpha val="22000"/>
              </a:srgbClr>
            </a:outerShdw>
          </a:effectLst>
        </p:spPr>
      </p:pic>
      <p:sp>
        <p:nvSpPr>
          <p:cNvPr id="4" name="Text 1"/>
          <p:cNvSpPr/>
          <p:nvPr/>
        </p:nvSpPr>
        <p:spPr>
          <a:xfrm>
            <a:off x="658368" y="1280160"/>
            <a:ext cx="6382512" cy="1097280"/>
          </a:xfrm>
          <a:prstGeom prst="rect">
            <a:avLst/>
          </a:prstGeom>
          <a:noFill/>
          <a:ln/>
        </p:spPr>
        <p:txBody>
          <a:bodyPr wrap="square" lIns="0" tIns="0" rIns="0" bIns="0" rtlCol="0" anchor="ctr"/>
          <a:lstStyle/>
          <a:p>
            <a:pPr marL="0" indent="0">
              <a:buNone/>
            </a:pPr>
            <a:r>
              <a:rPr lang="en-US" sz="6600" b="1" dirty="0">
                <a:solidFill>
                  <a:srgbClr val="1B3A29"/>
                </a:solidFill>
                <a:latin typeface="Century Schoolbook" pitchFamily="34" charset="0"/>
                <a:ea typeface="Century Schoolbook" pitchFamily="34" charset="-122"/>
                <a:cs typeface="Century Schoolbook" pitchFamily="34" charset="-120"/>
              </a:rPr>
              <a:t>Alluvion</a:t>
            </a:r>
            <a:endParaRPr lang="en-US" sz="6600" dirty="0"/>
          </a:p>
        </p:txBody>
      </p:sp>
      <p:sp>
        <p:nvSpPr>
          <p:cNvPr id="5" name="Text 2"/>
          <p:cNvSpPr/>
          <p:nvPr/>
        </p:nvSpPr>
        <p:spPr>
          <a:xfrm>
            <a:off x="685800" y="2450592"/>
            <a:ext cx="6382512" cy="502920"/>
          </a:xfrm>
          <a:prstGeom prst="rect">
            <a:avLst/>
          </a:prstGeom>
          <a:noFill/>
          <a:ln/>
        </p:spPr>
        <p:txBody>
          <a:bodyPr wrap="square" lIns="0" tIns="0" rIns="0" bIns="0" rtlCol="0" anchor="ctr"/>
          <a:lstStyle/>
          <a:p>
            <a:pPr marL="0" indent="0">
              <a:buNone/>
            </a:pPr>
            <a:r>
              <a:rPr lang="en-US" sz="2200" i="1" dirty="0">
                <a:solidFill>
                  <a:srgbClr val="C85A28"/>
                </a:solidFill>
                <a:latin typeface="Century Schoolbook" pitchFamily="34" charset="0"/>
                <a:ea typeface="Century Schoolbook" pitchFamily="34" charset="-122"/>
                <a:cs typeface="Century Schoolbook" pitchFamily="34" charset="-120"/>
              </a:rPr>
              <a:t>Agentic post-fire debris-flow early warning</a:t>
            </a:r>
            <a:endParaRPr lang="en-US" sz="2200" dirty="0"/>
          </a:p>
        </p:txBody>
      </p:sp>
      <p:sp>
        <p:nvSpPr>
          <p:cNvPr id="6" name="Text 3"/>
          <p:cNvSpPr/>
          <p:nvPr/>
        </p:nvSpPr>
        <p:spPr>
          <a:xfrm>
            <a:off x="685800" y="3127248"/>
            <a:ext cx="6382512" cy="1097280"/>
          </a:xfrm>
          <a:prstGeom prst="rect">
            <a:avLst/>
          </a:prstGeom>
          <a:noFill/>
          <a:ln/>
        </p:spPr>
        <p:txBody>
          <a:bodyPr wrap="square" lIns="0" tIns="0" rIns="0" bIns="0" rtlCol="0" anchor="t"/>
          <a:lstStyle/>
          <a:p>
            <a:pPr marL="0" indent="0">
              <a:lnSpc>
                <a:spcPct val="114000"/>
              </a:lnSpc>
              <a:buNone/>
            </a:pPr>
            <a:r>
              <a:rPr lang="en-US" sz="1550" dirty="0">
                <a:solidFill>
                  <a:srgbClr val="47564C"/>
                </a:solidFill>
                <a:latin typeface="Calibri" pitchFamily="34" charset="0"/>
                <a:ea typeface="Calibri" pitchFamily="34" charset="-122"/>
                <a:cs typeface="Calibri" pitchFamily="34" charset="-120"/>
              </a:rPr>
              <a:t>An autonomous platform to watch burned hillsides, predict where the next storm turns them deadly, and draft targeted warnings — </a:t>
            </a:r>
            <a:r>
              <a:rPr lang="en-US" sz="1550" b="1" dirty="0">
                <a:solidFill>
                  <a:srgbClr val="1B3A29"/>
                </a:solidFill>
                <a:latin typeface="Calibri" pitchFamily="34" charset="0"/>
                <a:ea typeface="Calibri" pitchFamily="34" charset="-122"/>
                <a:cs typeface="Calibri" pitchFamily="34" charset="-120"/>
              </a:rPr>
              <a:t>before disaster strikes.</a:t>
            </a:r>
            <a:endParaRPr lang="en-US" sz="1550" dirty="0"/>
          </a:p>
        </p:txBody>
      </p:sp>
      <p:sp>
        <p:nvSpPr>
          <p:cNvPr id="7" name="Text 4"/>
          <p:cNvSpPr/>
          <p:nvPr/>
        </p:nvSpPr>
        <p:spPr>
          <a:xfrm>
            <a:off x="685800" y="4562539"/>
            <a:ext cx="6382512" cy="256032"/>
          </a:xfrm>
          <a:prstGeom prst="rect">
            <a:avLst/>
          </a:prstGeom>
          <a:noFill/>
          <a:ln/>
        </p:spPr>
        <p:txBody>
          <a:bodyPr wrap="square" lIns="0" tIns="0" rIns="0" bIns="0" rtlCol="0" anchor="ctr"/>
          <a:lstStyle/>
          <a:p>
            <a:pPr marL="0" indent="0">
              <a:buNone/>
            </a:pPr>
            <a:r>
              <a:rPr lang="en-US" sz="1000" b="1" kern="0" spc="200" dirty="0">
                <a:solidFill>
                  <a:srgbClr val="2E7D4F"/>
                </a:solidFill>
                <a:latin typeface="Calibri" pitchFamily="34" charset="0"/>
                <a:ea typeface="Calibri" pitchFamily="34" charset="-122"/>
                <a:cs typeface="Calibri" pitchFamily="34" charset="-120"/>
              </a:rPr>
              <a:t>THE GOOGLE EARTH AI STACK</a:t>
            </a:r>
            <a:endParaRPr lang="en-US" sz="1000" dirty="0"/>
          </a:p>
        </p:txBody>
      </p:sp>
      <p:sp>
        <p:nvSpPr>
          <p:cNvPr id="8" name="Shape 5"/>
          <p:cNvSpPr/>
          <p:nvPr/>
        </p:nvSpPr>
        <p:spPr>
          <a:xfrm>
            <a:off x="409902" y="4937760"/>
            <a:ext cx="1459382" cy="384048"/>
          </a:xfrm>
          <a:prstGeom prst="roundRect">
            <a:avLst>
              <a:gd name="adj" fmla="val 50000"/>
            </a:avLst>
          </a:prstGeom>
          <a:solidFill>
            <a:srgbClr val="FFFFFF"/>
          </a:solidFill>
          <a:ln w="12700">
            <a:solidFill>
              <a:srgbClr val="E7E4DA"/>
            </a:solidFill>
            <a:prstDash val="solid"/>
          </a:ln>
        </p:spPr>
      </p:sp>
      <p:sp>
        <p:nvSpPr>
          <p:cNvPr id="9" name="Text 6"/>
          <p:cNvSpPr/>
          <p:nvPr/>
        </p:nvSpPr>
        <p:spPr>
          <a:xfrm>
            <a:off x="409902" y="4937760"/>
            <a:ext cx="1459382" cy="384048"/>
          </a:xfrm>
          <a:prstGeom prst="rect">
            <a:avLst/>
          </a:prstGeom>
          <a:noFill/>
          <a:ln/>
        </p:spPr>
        <p:txBody>
          <a:bodyPr wrap="square" lIns="0" tIns="0" rIns="0" bIns="0" rtlCol="0" anchor="ctr"/>
          <a:lstStyle/>
          <a:p>
            <a:pPr marL="0" indent="0" algn="ctr">
              <a:buNone/>
            </a:pPr>
            <a:r>
              <a:rPr lang="en-US" sz="1150" dirty="0">
                <a:solidFill>
                  <a:srgbClr val="1B3A29"/>
                </a:solidFill>
                <a:latin typeface="Calibri" pitchFamily="34" charset="0"/>
                <a:ea typeface="Calibri" pitchFamily="34" charset="-122"/>
                <a:cs typeface="Calibri" pitchFamily="34" charset="-120"/>
              </a:rPr>
              <a:t>Earth Engine</a:t>
            </a:r>
            <a:endParaRPr lang="en-US" sz="1150" dirty="0"/>
          </a:p>
        </p:txBody>
      </p:sp>
      <p:sp>
        <p:nvSpPr>
          <p:cNvPr id="10" name="Shape 7"/>
          <p:cNvSpPr/>
          <p:nvPr/>
        </p:nvSpPr>
        <p:spPr>
          <a:xfrm>
            <a:off x="2033876" y="4937760"/>
            <a:ext cx="921715" cy="384048"/>
          </a:xfrm>
          <a:prstGeom prst="roundRect">
            <a:avLst>
              <a:gd name="adj" fmla="val 50000"/>
            </a:avLst>
          </a:prstGeom>
          <a:solidFill>
            <a:srgbClr val="FFFFFF"/>
          </a:solidFill>
          <a:ln w="12700">
            <a:solidFill>
              <a:srgbClr val="E7E4DA"/>
            </a:solidFill>
            <a:prstDash val="solid"/>
          </a:ln>
        </p:spPr>
      </p:sp>
      <p:sp>
        <p:nvSpPr>
          <p:cNvPr id="11" name="Text 8"/>
          <p:cNvSpPr/>
          <p:nvPr/>
        </p:nvSpPr>
        <p:spPr>
          <a:xfrm>
            <a:off x="2033876" y="4937760"/>
            <a:ext cx="921715" cy="384048"/>
          </a:xfrm>
          <a:prstGeom prst="rect">
            <a:avLst/>
          </a:prstGeom>
          <a:noFill/>
          <a:ln/>
        </p:spPr>
        <p:txBody>
          <a:bodyPr wrap="square" lIns="0" tIns="0" rIns="0" bIns="0" rtlCol="0" anchor="ctr"/>
          <a:lstStyle/>
          <a:p>
            <a:pPr marL="0" indent="0" algn="ctr">
              <a:buNone/>
            </a:pPr>
            <a:r>
              <a:rPr lang="en-US" sz="1150" dirty="0">
                <a:solidFill>
                  <a:srgbClr val="1B3A29"/>
                </a:solidFill>
                <a:latin typeface="Calibri" pitchFamily="34" charset="0"/>
                <a:ea typeface="Calibri" pitchFamily="34" charset="-122"/>
                <a:cs typeface="Calibri" pitchFamily="34" charset="-120"/>
              </a:rPr>
              <a:t>Gemini</a:t>
            </a:r>
            <a:endParaRPr lang="en-US" sz="1150" dirty="0"/>
          </a:p>
        </p:txBody>
      </p:sp>
      <p:sp>
        <p:nvSpPr>
          <p:cNvPr id="12" name="Shape 9"/>
          <p:cNvSpPr/>
          <p:nvPr/>
        </p:nvSpPr>
        <p:spPr>
          <a:xfrm>
            <a:off x="3120184" y="4937760"/>
            <a:ext cx="1369771" cy="384048"/>
          </a:xfrm>
          <a:prstGeom prst="roundRect">
            <a:avLst>
              <a:gd name="adj" fmla="val 50000"/>
            </a:avLst>
          </a:prstGeom>
          <a:solidFill>
            <a:srgbClr val="FFFFFF"/>
          </a:solidFill>
          <a:ln w="12700">
            <a:solidFill>
              <a:srgbClr val="E7E4DA"/>
            </a:solidFill>
            <a:prstDash val="solid"/>
          </a:ln>
        </p:spPr>
      </p:sp>
      <p:sp>
        <p:nvSpPr>
          <p:cNvPr id="13" name="Text 10"/>
          <p:cNvSpPr/>
          <p:nvPr/>
        </p:nvSpPr>
        <p:spPr>
          <a:xfrm>
            <a:off x="3120184" y="4937760"/>
            <a:ext cx="1369771" cy="384048"/>
          </a:xfrm>
          <a:prstGeom prst="rect">
            <a:avLst/>
          </a:prstGeom>
          <a:noFill/>
          <a:ln/>
        </p:spPr>
        <p:txBody>
          <a:bodyPr wrap="square" lIns="0" tIns="0" rIns="0" bIns="0" rtlCol="0" anchor="ctr"/>
          <a:lstStyle/>
          <a:p>
            <a:pPr marL="0" indent="0" algn="ctr">
              <a:buNone/>
            </a:pPr>
            <a:r>
              <a:rPr lang="en-US" sz="1150" dirty="0">
                <a:solidFill>
                  <a:srgbClr val="1B3A29"/>
                </a:solidFill>
                <a:latin typeface="Calibri" pitchFamily="34" charset="0"/>
                <a:ea typeface="Calibri" pitchFamily="34" charset="-122"/>
                <a:cs typeface="Calibri" pitchFamily="34" charset="-120"/>
              </a:rPr>
              <a:t>WeatherNext</a:t>
            </a:r>
            <a:endParaRPr lang="en-US" sz="1150" dirty="0"/>
          </a:p>
        </p:txBody>
      </p:sp>
      <p:sp>
        <p:nvSpPr>
          <p:cNvPr id="14" name="Shape 11"/>
          <p:cNvSpPr/>
          <p:nvPr/>
        </p:nvSpPr>
        <p:spPr>
          <a:xfrm>
            <a:off x="4654547" y="4937760"/>
            <a:ext cx="1280160" cy="384048"/>
          </a:xfrm>
          <a:prstGeom prst="roundRect">
            <a:avLst>
              <a:gd name="adj" fmla="val 50000"/>
            </a:avLst>
          </a:prstGeom>
          <a:solidFill>
            <a:srgbClr val="FFFFFF"/>
          </a:solidFill>
          <a:ln w="12700">
            <a:solidFill>
              <a:srgbClr val="E7E4DA"/>
            </a:solidFill>
            <a:prstDash val="solid"/>
          </a:ln>
        </p:spPr>
      </p:sp>
      <p:sp>
        <p:nvSpPr>
          <p:cNvPr id="15" name="Text 12"/>
          <p:cNvSpPr/>
          <p:nvPr/>
        </p:nvSpPr>
        <p:spPr>
          <a:xfrm>
            <a:off x="4654547" y="4937760"/>
            <a:ext cx="1280160" cy="384048"/>
          </a:xfrm>
          <a:prstGeom prst="rect">
            <a:avLst/>
          </a:prstGeom>
          <a:noFill/>
          <a:ln/>
        </p:spPr>
        <p:txBody>
          <a:bodyPr wrap="square" lIns="0" tIns="0" rIns="0" bIns="0" rtlCol="0" anchor="ctr"/>
          <a:lstStyle/>
          <a:p>
            <a:pPr marL="0" indent="0" algn="ctr">
              <a:buNone/>
            </a:pPr>
            <a:r>
              <a:rPr lang="en-US" sz="1150" dirty="0">
                <a:solidFill>
                  <a:srgbClr val="1B3A29"/>
                </a:solidFill>
                <a:latin typeface="Calibri" pitchFamily="34" charset="0"/>
                <a:ea typeface="Calibri" pitchFamily="34" charset="-122"/>
                <a:cs typeface="Calibri" pitchFamily="34" charset="-120"/>
              </a:rPr>
              <a:t>AlphaEarth</a:t>
            </a:r>
            <a:endParaRPr lang="en-US" sz="1150" dirty="0"/>
          </a:p>
        </p:txBody>
      </p:sp>
      <p:sp>
        <p:nvSpPr>
          <p:cNvPr id="16" name="Shape 13"/>
          <p:cNvSpPr/>
          <p:nvPr/>
        </p:nvSpPr>
        <p:spPr>
          <a:xfrm>
            <a:off x="6099299" y="4937760"/>
            <a:ext cx="1011326" cy="384048"/>
          </a:xfrm>
          <a:prstGeom prst="roundRect">
            <a:avLst>
              <a:gd name="adj" fmla="val 50000"/>
            </a:avLst>
          </a:prstGeom>
          <a:solidFill>
            <a:srgbClr val="FFFFFF"/>
          </a:solidFill>
          <a:ln w="12700">
            <a:solidFill>
              <a:srgbClr val="E7E4DA"/>
            </a:solidFill>
            <a:prstDash val="solid"/>
          </a:ln>
        </p:spPr>
      </p:sp>
      <p:sp>
        <p:nvSpPr>
          <p:cNvPr id="17" name="Text 14"/>
          <p:cNvSpPr/>
          <p:nvPr/>
        </p:nvSpPr>
        <p:spPr>
          <a:xfrm>
            <a:off x="6099299" y="4937760"/>
            <a:ext cx="1011326" cy="384048"/>
          </a:xfrm>
          <a:prstGeom prst="rect">
            <a:avLst/>
          </a:prstGeom>
          <a:noFill/>
          <a:ln/>
        </p:spPr>
        <p:txBody>
          <a:bodyPr wrap="square" lIns="0" tIns="0" rIns="0" bIns="0" rtlCol="0" anchor="ctr"/>
          <a:lstStyle/>
          <a:p>
            <a:pPr marL="0" indent="0" algn="ctr">
              <a:buNone/>
            </a:pPr>
            <a:r>
              <a:rPr lang="en-US" sz="1150" dirty="0">
                <a:solidFill>
                  <a:srgbClr val="1B3A29"/>
                </a:solidFill>
                <a:latin typeface="Calibri" pitchFamily="34" charset="0"/>
                <a:ea typeface="Calibri" pitchFamily="34" charset="-122"/>
                <a:cs typeface="Calibri" pitchFamily="34" charset="-120"/>
              </a:rPr>
              <a:t>FireSat</a:t>
            </a:r>
            <a:endParaRPr lang="en-US" sz="1150" dirty="0"/>
          </a:p>
        </p:txBody>
      </p:sp>
      <p:sp>
        <p:nvSpPr>
          <p:cNvPr id="18" name="Text 15"/>
          <p:cNvSpPr/>
          <p:nvPr/>
        </p:nvSpPr>
        <p:spPr>
          <a:xfrm>
            <a:off x="685800" y="5943600"/>
            <a:ext cx="6382512" cy="274320"/>
          </a:xfrm>
          <a:prstGeom prst="rect">
            <a:avLst/>
          </a:prstGeom>
          <a:noFill/>
          <a:ln/>
        </p:spPr>
        <p:txBody>
          <a:bodyPr wrap="square" lIns="0" tIns="0" rIns="0" bIns="0" rtlCol="0" anchor="ctr"/>
          <a:lstStyle/>
          <a:p>
            <a:pPr marL="0" indent="0" algn="l">
              <a:buNone/>
            </a:pPr>
            <a:r>
              <a:rPr lang="en-US" sz="1050" i="1" dirty="0">
                <a:solidFill>
                  <a:srgbClr val="94A096"/>
                </a:solidFill>
                <a:latin typeface="Calibri" pitchFamily="34" charset="0"/>
                <a:ea typeface="Calibri" pitchFamily="34" charset="-122"/>
                <a:cs typeface="Calibri" pitchFamily="34" charset="-120"/>
              </a:rPr>
              <a:t>Post-fire debris-flow hazard  →  downstream impact  →  targeted warning</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A"/>
        </a:solidFill>
        <a:effectLst/>
      </p:bgPr>
    </p:bg>
    <p:spTree>
      <p:nvGrpSpPr>
        <p:cNvPr id="1" name=""/>
        <p:cNvGrpSpPr/>
        <p:nvPr/>
      </p:nvGrpSpPr>
      <p:grpSpPr>
        <a:xfrm>
          <a:off x="0" y="0"/>
          <a:ext cx="0" cy="0"/>
          <a:chOff x="0" y="0"/>
          <a:chExt cx="0" cy="0"/>
        </a:xfrm>
      </p:grpSpPr>
      <p:sp>
        <p:nvSpPr>
          <p:cNvPr id="2" name="Text 0"/>
          <p:cNvSpPr/>
          <p:nvPr/>
        </p:nvSpPr>
        <p:spPr>
          <a:xfrm>
            <a:off x="548640" y="502920"/>
            <a:ext cx="10515600" cy="292608"/>
          </a:xfrm>
          <a:prstGeom prst="rect">
            <a:avLst/>
          </a:prstGeom>
          <a:noFill/>
          <a:ln/>
        </p:spPr>
        <p:txBody>
          <a:bodyPr wrap="square" lIns="0" tIns="0" rIns="0" bIns="0" rtlCol="0" anchor="ctr"/>
          <a:lstStyle/>
          <a:p>
            <a:pPr marL="0" indent="0" algn="l">
              <a:buNone/>
            </a:pPr>
            <a:r>
              <a:rPr lang="en-US" sz="1250" b="1" kern="0" spc="300" dirty="0">
                <a:solidFill>
                  <a:srgbClr val="C85A28"/>
                </a:solidFill>
                <a:latin typeface="Calibri" pitchFamily="34" charset="0"/>
                <a:ea typeface="Calibri" pitchFamily="34" charset="-122"/>
                <a:cs typeface="Calibri" pitchFamily="34" charset="-120"/>
              </a:rPr>
              <a:t>THE PROBLEM</a:t>
            </a:r>
            <a:endParaRPr lang="en-US" sz="1250" dirty="0"/>
          </a:p>
        </p:txBody>
      </p:sp>
      <p:sp>
        <p:nvSpPr>
          <p:cNvPr id="3" name="Text 1"/>
          <p:cNvSpPr/>
          <p:nvPr/>
        </p:nvSpPr>
        <p:spPr>
          <a:xfrm>
            <a:off x="548640" y="868680"/>
            <a:ext cx="10515600" cy="914400"/>
          </a:xfrm>
          <a:prstGeom prst="rect">
            <a:avLst/>
          </a:prstGeom>
          <a:noFill/>
          <a:ln/>
        </p:spPr>
        <p:txBody>
          <a:bodyPr wrap="square" lIns="0" tIns="0" rIns="0" bIns="0" rtlCol="0" anchor="ctr"/>
          <a:lstStyle/>
          <a:p>
            <a:pPr marL="0" indent="0" algn="l">
              <a:lnSpc>
                <a:spcPct val="98000"/>
              </a:lnSpc>
              <a:buNone/>
            </a:pPr>
            <a:r>
              <a:rPr lang="en-US" sz="3400" b="1" dirty="0">
                <a:solidFill>
                  <a:srgbClr val="1B3A29"/>
                </a:solidFill>
                <a:latin typeface="Century Schoolbook" pitchFamily="34" charset="0"/>
                <a:ea typeface="Century Schoolbook" pitchFamily="34" charset="-122"/>
                <a:cs typeface="Century Schoolbook" pitchFamily="34" charset="-120"/>
              </a:rPr>
              <a:t>Wildfires don't end when the flames die</a:t>
            </a:r>
            <a:endParaRPr lang="en-US" sz="3400" dirty="0"/>
          </a:p>
        </p:txBody>
      </p:sp>
      <p:sp>
        <p:nvSpPr>
          <p:cNvPr id="4" name="Text 2"/>
          <p:cNvSpPr/>
          <p:nvPr/>
        </p:nvSpPr>
        <p:spPr>
          <a:xfrm>
            <a:off x="548640" y="1828800"/>
            <a:ext cx="5806440" cy="1554480"/>
          </a:xfrm>
          <a:prstGeom prst="rect">
            <a:avLst/>
          </a:prstGeom>
          <a:noFill/>
          <a:ln/>
        </p:spPr>
        <p:txBody>
          <a:bodyPr wrap="square" lIns="0" tIns="0" rIns="0" bIns="0" rtlCol="0" anchor="t"/>
          <a:lstStyle/>
          <a:p>
            <a:pPr marL="0" indent="0">
              <a:lnSpc>
                <a:spcPct val="118000"/>
              </a:lnSpc>
              <a:buNone/>
            </a:pPr>
            <a:r>
              <a:rPr lang="en-US" sz="1500" dirty="0">
                <a:solidFill>
                  <a:srgbClr val="47564C"/>
                </a:solidFill>
                <a:latin typeface="Calibri" pitchFamily="34" charset="0"/>
                <a:ea typeface="Calibri" pitchFamily="34" charset="-122"/>
                <a:cs typeface="Calibri" pitchFamily="34" charset="-120"/>
              </a:rPr>
              <a:t>When a fire strips a slope bare and bakes the soil, the next intense rain doesn't soak in — it races downhill, gathering ash, soil and boulders into a </a:t>
            </a:r>
            <a:r>
              <a:rPr lang="en-US" sz="1500" b="1" dirty="0">
                <a:solidFill>
                  <a:srgbClr val="C85A28"/>
                </a:solidFill>
                <a:latin typeface="Calibri" pitchFamily="34" charset="0"/>
                <a:ea typeface="Calibri" pitchFamily="34" charset="-122"/>
                <a:cs typeface="Calibri" pitchFamily="34" charset="-120"/>
              </a:rPr>
              <a:t>debris flow</a:t>
            </a:r>
            <a:r>
              <a:rPr lang="en-US" sz="1500" dirty="0">
                <a:solidFill>
                  <a:srgbClr val="47564C"/>
                </a:solidFill>
                <a:latin typeface="Calibri" pitchFamily="34" charset="0"/>
                <a:ea typeface="Calibri" pitchFamily="34" charset="-122"/>
                <a:cs typeface="Calibri" pitchFamily="34" charset="-120"/>
              </a:rPr>
              <a:t>: a fast, deadly river of mud that can bury the homes, roads and rivers below. They move faster than a person can run and hit with little warning.</a:t>
            </a:r>
            <a:endParaRPr lang="en-US" sz="1500" dirty="0"/>
          </a:p>
        </p:txBody>
      </p:sp>
      <p:pic>
        <p:nvPicPr>
          <p:cNvPr id="5" name="Image 0" descr="assets/debris_village_c.png"/>
          <p:cNvPicPr>
            <a:picLocks noChangeAspect="1"/>
          </p:cNvPicPr>
          <p:nvPr/>
        </p:nvPicPr>
        <p:blipFill>
          <a:blip r:embed="rId3"/>
          <a:stretch>
            <a:fillRect/>
          </a:stretch>
        </p:blipFill>
        <p:spPr>
          <a:xfrm>
            <a:off x="7086600" y="1783080"/>
            <a:ext cx="4361688" cy="3017520"/>
          </a:xfrm>
          <a:prstGeom prst="rect">
            <a:avLst/>
          </a:prstGeom>
          <a:effectLst>
            <a:outerShdw blurRad="165100" dist="38100" dir="5400000" algn="bl" rotWithShape="0">
              <a:srgbClr val="2B3B30">
                <a:alpha val="22000"/>
              </a:srgbClr>
            </a:outerShdw>
          </a:effectLst>
        </p:spPr>
      </p:pic>
      <p:sp>
        <p:nvSpPr>
          <p:cNvPr id="6" name="Text 3"/>
          <p:cNvSpPr/>
          <p:nvPr/>
        </p:nvSpPr>
        <p:spPr>
          <a:xfrm>
            <a:off x="7086600" y="4882896"/>
            <a:ext cx="4361688" cy="274320"/>
          </a:xfrm>
          <a:prstGeom prst="rect">
            <a:avLst/>
          </a:prstGeom>
          <a:noFill/>
          <a:ln/>
        </p:spPr>
        <p:txBody>
          <a:bodyPr wrap="square" lIns="0" tIns="0" rIns="0" bIns="0" rtlCol="0" anchor="ctr"/>
          <a:lstStyle/>
          <a:p>
            <a:pPr marL="0" indent="0" algn="l">
              <a:buNone/>
            </a:pPr>
            <a:r>
              <a:rPr lang="en-US" sz="1050" i="1" dirty="0">
                <a:solidFill>
                  <a:srgbClr val="94A096"/>
                </a:solidFill>
                <a:latin typeface="Calibri" pitchFamily="34" charset="0"/>
                <a:ea typeface="Calibri" pitchFamily="34" charset="-122"/>
                <a:cs typeface="Calibri" pitchFamily="34" charset="-120"/>
              </a:rPr>
              <a:t>A recently burned valley after the storm — the runout path where debris spreads over the homes below.</a:t>
            </a:r>
            <a:endParaRPr lang="en-US" sz="1050" dirty="0"/>
          </a:p>
        </p:txBody>
      </p:sp>
      <p:sp>
        <p:nvSpPr>
          <p:cNvPr id="7" name="Shape 4"/>
          <p:cNvSpPr/>
          <p:nvPr/>
        </p:nvSpPr>
        <p:spPr>
          <a:xfrm>
            <a:off x="548640" y="5212080"/>
            <a:ext cx="11091672" cy="1097280"/>
          </a:xfrm>
          <a:prstGeom prst="roundRect">
            <a:avLst>
              <a:gd name="adj" fmla="val 9167"/>
            </a:avLst>
          </a:prstGeom>
          <a:solidFill>
            <a:srgbClr val="F4F2EC"/>
          </a:solidFill>
          <a:ln/>
        </p:spPr>
      </p:sp>
      <p:sp>
        <p:nvSpPr>
          <p:cNvPr id="8" name="Text 5"/>
          <p:cNvSpPr/>
          <p:nvPr/>
        </p:nvSpPr>
        <p:spPr>
          <a:xfrm>
            <a:off x="868680" y="5340096"/>
            <a:ext cx="10451592" cy="274320"/>
          </a:xfrm>
          <a:prstGeom prst="rect">
            <a:avLst/>
          </a:prstGeom>
          <a:noFill/>
          <a:ln/>
        </p:spPr>
        <p:txBody>
          <a:bodyPr wrap="square" lIns="0" tIns="0" rIns="0" bIns="0" rtlCol="0" anchor="ctr"/>
          <a:lstStyle/>
          <a:p>
            <a:pPr marL="0" indent="0">
              <a:buNone/>
            </a:pPr>
            <a:r>
              <a:rPr lang="en-US" sz="1150" b="1" kern="0" spc="120" dirty="0">
                <a:solidFill>
                  <a:srgbClr val="2E7D4F"/>
                </a:solidFill>
                <a:latin typeface="Calibri" pitchFamily="34" charset="0"/>
                <a:ea typeface="Calibri" pitchFamily="34" charset="-122"/>
                <a:cs typeface="Calibri" pitchFamily="34" charset="-120"/>
              </a:rPr>
              <a:t>MONTECITO, CALIFORNIA — JANUARY 2018,  weeks after the Thomas Fire</a:t>
            </a:r>
            <a:endParaRPr lang="en-US" sz="1150" dirty="0"/>
          </a:p>
        </p:txBody>
      </p:sp>
      <p:sp>
        <p:nvSpPr>
          <p:cNvPr id="9" name="Text 6"/>
          <p:cNvSpPr/>
          <p:nvPr/>
        </p:nvSpPr>
        <p:spPr>
          <a:xfrm>
            <a:off x="868680" y="5596128"/>
            <a:ext cx="2430018" cy="420624"/>
          </a:xfrm>
          <a:prstGeom prst="rect">
            <a:avLst/>
          </a:prstGeom>
          <a:noFill/>
          <a:ln/>
        </p:spPr>
        <p:txBody>
          <a:bodyPr wrap="square" lIns="0" tIns="0" rIns="0" bIns="0" rtlCol="0" anchor="ctr"/>
          <a:lstStyle/>
          <a:p>
            <a:pPr marL="0" indent="0">
              <a:buNone/>
            </a:pPr>
            <a:r>
              <a:rPr lang="en-US" sz="2900" b="1" dirty="0">
                <a:solidFill>
                  <a:srgbClr val="C85A28"/>
                </a:solidFill>
                <a:latin typeface="Century Schoolbook" pitchFamily="34" charset="0"/>
                <a:ea typeface="Century Schoolbook" pitchFamily="34" charset="-122"/>
                <a:cs typeface="Century Schoolbook" pitchFamily="34" charset="-120"/>
              </a:rPr>
              <a:t>23</a:t>
            </a:r>
            <a:endParaRPr lang="en-US" sz="2900" dirty="0"/>
          </a:p>
        </p:txBody>
      </p:sp>
      <p:sp>
        <p:nvSpPr>
          <p:cNvPr id="10" name="Text 7"/>
          <p:cNvSpPr/>
          <p:nvPr/>
        </p:nvSpPr>
        <p:spPr>
          <a:xfrm>
            <a:off x="868680" y="6016752"/>
            <a:ext cx="2430018" cy="274320"/>
          </a:xfrm>
          <a:prstGeom prst="rect">
            <a:avLst/>
          </a:prstGeom>
          <a:noFill/>
          <a:ln/>
        </p:spPr>
        <p:txBody>
          <a:bodyPr wrap="square" lIns="0" tIns="0" rIns="0" bIns="0" rtlCol="0" anchor="ctr"/>
          <a:lstStyle/>
          <a:p>
            <a:pPr marL="0" indent="0">
              <a:buNone/>
            </a:pPr>
            <a:r>
              <a:rPr lang="en-US" sz="1100" dirty="0">
                <a:solidFill>
                  <a:srgbClr val="47564C"/>
                </a:solidFill>
                <a:latin typeface="Calibri" pitchFamily="34" charset="0"/>
                <a:ea typeface="Calibri" pitchFamily="34" charset="-122"/>
                <a:cs typeface="Calibri" pitchFamily="34" charset="-120"/>
              </a:rPr>
              <a:t>lives lost in minutes</a:t>
            </a:r>
            <a:endParaRPr lang="en-US" sz="1100" dirty="0"/>
          </a:p>
        </p:txBody>
      </p:sp>
      <p:sp>
        <p:nvSpPr>
          <p:cNvPr id="11" name="Text 8"/>
          <p:cNvSpPr/>
          <p:nvPr/>
        </p:nvSpPr>
        <p:spPr>
          <a:xfrm>
            <a:off x="3481578" y="5596128"/>
            <a:ext cx="2430018" cy="420624"/>
          </a:xfrm>
          <a:prstGeom prst="rect">
            <a:avLst/>
          </a:prstGeom>
          <a:noFill/>
          <a:ln/>
        </p:spPr>
        <p:txBody>
          <a:bodyPr wrap="square" lIns="0" tIns="0" rIns="0" bIns="0" rtlCol="0" anchor="ctr"/>
          <a:lstStyle/>
          <a:p>
            <a:pPr marL="0" indent="0">
              <a:buNone/>
            </a:pPr>
            <a:r>
              <a:rPr lang="en-US" sz="2900" b="1" dirty="0">
                <a:solidFill>
                  <a:srgbClr val="C85A28"/>
                </a:solidFill>
                <a:latin typeface="Century Schoolbook" pitchFamily="34" charset="0"/>
                <a:ea typeface="Century Schoolbook" pitchFamily="34" charset="-122"/>
                <a:cs typeface="Century Schoolbook" pitchFamily="34" charset="-120"/>
              </a:rPr>
              <a:t>400+</a:t>
            </a:r>
            <a:endParaRPr lang="en-US" sz="2900" dirty="0"/>
          </a:p>
        </p:txBody>
      </p:sp>
      <p:sp>
        <p:nvSpPr>
          <p:cNvPr id="12" name="Text 9"/>
          <p:cNvSpPr/>
          <p:nvPr/>
        </p:nvSpPr>
        <p:spPr>
          <a:xfrm>
            <a:off x="3481578" y="6016752"/>
            <a:ext cx="2430018" cy="274320"/>
          </a:xfrm>
          <a:prstGeom prst="rect">
            <a:avLst/>
          </a:prstGeom>
          <a:noFill/>
          <a:ln/>
        </p:spPr>
        <p:txBody>
          <a:bodyPr wrap="square" lIns="0" tIns="0" rIns="0" bIns="0" rtlCol="0" anchor="ctr"/>
          <a:lstStyle/>
          <a:p>
            <a:pPr marL="0" indent="0">
              <a:buNone/>
            </a:pPr>
            <a:r>
              <a:rPr lang="en-US" sz="1100" dirty="0">
                <a:solidFill>
                  <a:srgbClr val="47564C"/>
                </a:solidFill>
                <a:latin typeface="Calibri" pitchFamily="34" charset="0"/>
                <a:ea typeface="Calibri" pitchFamily="34" charset="-122"/>
                <a:cs typeface="Calibri" pitchFamily="34" charset="-120"/>
              </a:rPr>
              <a:t>homes damaged or destroyed</a:t>
            </a:r>
            <a:endParaRPr lang="en-US" sz="1100" dirty="0"/>
          </a:p>
        </p:txBody>
      </p:sp>
      <p:sp>
        <p:nvSpPr>
          <p:cNvPr id="13" name="Text 10"/>
          <p:cNvSpPr/>
          <p:nvPr/>
        </p:nvSpPr>
        <p:spPr>
          <a:xfrm>
            <a:off x="6094476" y="5596128"/>
            <a:ext cx="2430018" cy="420624"/>
          </a:xfrm>
          <a:prstGeom prst="rect">
            <a:avLst/>
          </a:prstGeom>
          <a:noFill/>
          <a:ln/>
        </p:spPr>
        <p:txBody>
          <a:bodyPr wrap="square" lIns="0" tIns="0" rIns="0" bIns="0" rtlCol="0" anchor="ctr"/>
          <a:lstStyle/>
          <a:p>
            <a:pPr marL="0" indent="0">
              <a:buNone/>
            </a:pPr>
            <a:r>
              <a:rPr lang="en-US" sz="2900" b="1" dirty="0">
                <a:solidFill>
                  <a:srgbClr val="C85A28"/>
                </a:solidFill>
                <a:latin typeface="Century Schoolbook" pitchFamily="34" charset="0"/>
                <a:ea typeface="Century Schoolbook" pitchFamily="34" charset="-122"/>
                <a:cs typeface="Century Schoolbook" pitchFamily="34" charset="-120"/>
              </a:rPr>
              <a:t>680,000 m³</a:t>
            </a:r>
            <a:endParaRPr lang="en-US" sz="2900" dirty="0"/>
          </a:p>
        </p:txBody>
      </p:sp>
      <p:sp>
        <p:nvSpPr>
          <p:cNvPr id="14" name="Text 11"/>
          <p:cNvSpPr/>
          <p:nvPr/>
        </p:nvSpPr>
        <p:spPr>
          <a:xfrm>
            <a:off x="6094476" y="6016752"/>
            <a:ext cx="2430018" cy="274320"/>
          </a:xfrm>
          <a:prstGeom prst="rect">
            <a:avLst/>
          </a:prstGeom>
          <a:noFill/>
          <a:ln/>
        </p:spPr>
        <p:txBody>
          <a:bodyPr wrap="square" lIns="0" tIns="0" rIns="0" bIns="0" rtlCol="0" anchor="ctr"/>
          <a:lstStyle/>
          <a:p>
            <a:pPr marL="0" indent="0">
              <a:buNone/>
            </a:pPr>
            <a:r>
              <a:rPr lang="en-US" sz="1100" dirty="0">
                <a:solidFill>
                  <a:srgbClr val="47564C"/>
                </a:solidFill>
                <a:latin typeface="Calibri" pitchFamily="34" charset="0"/>
                <a:ea typeface="Calibri" pitchFamily="34" charset="-122"/>
                <a:cs typeface="Calibri" pitchFamily="34" charset="-120"/>
              </a:rPr>
              <a:t>mud &amp; boulders mobilized</a:t>
            </a:r>
            <a:endParaRPr lang="en-US" sz="1100" dirty="0"/>
          </a:p>
        </p:txBody>
      </p:sp>
      <p:sp>
        <p:nvSpPr>
          <p:cNvPr id="15" name="Text 12"/>
          <p:cNvSpPr/>
          <p:nvPr/>
        </p:nvSpPr>
        <p:spPr>
          <a:xfrm>
            <a:off x="8707374" y="5596128"/>
            <a:ext cx="2430018" cy="420624"/>
          </a:xfrm>
          <a:prstGeom prst="rect">
            <a:avLst/>
          </a:prstGeom>
          <a:noFill/>
          <a:ln/>
        </p:spPr>
        <p:txBody>
          <a:bodyPr wrap="square" lIns="0" tIns="0" rIns="0" bIns="0" rtlCol="0" anchor="ctr"/>
          <a:lstStyle/>
          <a:p>
            <a:pPr marL="0" indent="0">
              <a:buNone/>
            </a:pPr>
            <a:r>
              <a:rPr lang="en-US" sz="2900" b="1" dirty="0">
                <a:solidFill>
                  <a:srgbClr val="C85A28"/>
                </a:solidFill>
                <a:latin typeface="Century Schoolbook" pitchFamily="34" charset="0"/>
                <a:ea typeface="Century Schoolbook" pitchFamily="34" charset="-122"/>
                <a:cs typeface="Century Schoolbook" pitchFamily="34" charset="-120"/>
              </a:rPr>
              <a:t>1 storm</a:t>
            </a:r>
            <a:endParaRPr lang="en-US" sz="2900" dirty="0"/>
          </a:p>
        </p:txBody>
      </p:sp>
      <p:sp>
        <p:nvSpPr>
          <p:cNvPr id="16" name="Text 13"/>
          <p:cNvSpPr/>
          <p:nvPr/>
        </p:nvSpPr>
        <p:spPr>
          <a:xfrm>
            <a:off x="8707374" y="6016752"/>
            <a:ext cx="2430018" cy="274320"/>
          </a:xfrm>
          <a:prstGeom prst="rect">
            <a:avLst/>
          </a:prstGeom>
          <a:noFill/>
          <a:ln/>
        </p:spPr>
        <p:txBody>
          <a:bodyPr wrap="square" lIns="0" tIns="0" rIns="0" bIns="0" rtlCol="0" anchor="ctr"/>
          <a:lstStyle/>
          <a:p>
            <a:pPr marL="0" indent="0">
              <a:buNone/>
            </a:pPr>
            <a:r>
              <a:rPr lang="en-US" sz="1100" dirty="0">
                <a:solidFill>
                  <a:srgbClr val="47564C"/>
                </a:solidFill>
                <a:latin typeface="Calibri" pitchFamily="34" charset="0"/>
                <a:ea typeface="Calibri" pitchFamily="34" charset="-122"/>
                <a:cs typeface="Calibri" pitchFamily="34" charset="-120"/>
              </a:rPr>
              <a:t>before the fire was even contained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A"/>
        </a:solidFill>
        <a:effectLst/>
      </p:bgPr>
    </p:bg>
    <p:spTree>
      <p:nvGrpSpPr>
        <p:cNvPr id="1" name=""/>
        <p:cNvGrpSpPr/>
        <p:nvPr/>
      </p:nvGrpSpPr>
      <p:grpSpPr>
        <a:xfrm>
          <a:off x="0" y="0"/>
          <a:ext cx="0" cy="0"/>
          <a:chOff x="0" y="0"/>
          <a:chExt cx="0" cy="0"/>
        </a:xfrm>
      </p:grpSpPr>
      <p:sp>
        <p:nvSpPr>
          <p:cNvPr id="2" name="Text 0"/>
          <p:cNvSpPr/>
          <p:nvPr/>
        </p:nvSpPr>
        <p:spPr>
          <a:xfrm>
            <a:off x="548640" y="502920"/>
            <a:ext cx="10515600" cy="292608"/>
          </a:xfrm>
          <a:prstGeom prst="rect">
            <a:avLst/>
          </a:prstGeom>
          <a:noFill/>
          <a:ln/>
        </p:spPr>
        <p:txBody>
          <a:bodyPr wrap="square" lIns="0" tIns="0" rIns="0" bIns="0" rtlCol="0" anchor="ctr"/>
          <a:lstStyle/>
          <a:p>
            <a:pPr marL="0" indent="0" algn="l">
              <a:buNone/>
            </a:pPr>
            <a:r>
              <a:rPr lang="en-US" sz="1250" b="1" kern="0" spc="300" dirty="0">
                <a:solidFill>
                  <a:srgbClr val="C85A28"/>
                </a:solidFill>
                <a:latin typeface="Calibri" pitchFamily="34" charset="0"/>
                <a:ea typeface="Calibri" pitchFamily="34" charset="-122"/>
                <a:cs typeface="Calibri" pitchFamily="34" charset="-120"/>
              </a:rPr>
              <a:t>THE SOLUTION</a:t>
            </a:r>
            <a:endParaRPr lang="en-US" sz="1250" dirty="0"/>
          </a:p>
        </p:txBody>
      </p:sp>
      <p:sp>
        <p:nvSpPr>
          <p:cNvPr id="3" name="Text 1"/>
          <p:cNvSpPr/>
          <p:nvPr/>
        </p:nvSpPr>
        <p:spPr>
          <a:xfrm>
            <a:off x="548640" y="868680"/>
            <a:ext cx="10789920" cy="914400"/>
          </a:xfrm>
          <a:prstGeom prst="rect">
            <a:avLst/>
          </a:prstGeom>
          <a:noFill/>
          <a:ln/>
        </p:spPr>
        <p:txBody>
          <a:bodyPr wrap="square" lIns="0" tIns="0" rIns="0" bIns="0" rtlCol="0" anchor="ctr"/>
          <a:lstStyle/>
          <a:p>
            <a:pPr marL="0" indent="0" algn="l">
              <a:lnSpc>
                <a:spcPct val="98000"/>
              </a:lnSpc>
              <a:buNone/>
            </a:pPr>
            <a:r>
              <a:rPr lang="en-US" sz="3400" b="1" dirty="0">
                <a:solidFill>
                  <a:srgbClr val="1B3A29"/>
                </a:solidFill>
                <a:latin typeface="Century Schoolbook" pitchFamily="34" charset="0"/>
                <a:ea typeface="Century Schoolbook" pitchFamily="34" charset="-122"/>
                <a:cs typeface="Century Schoolbook" pitchFamily="34" charset="-120"/>
              </a:rPr>
              <a:t>Alluvion: from burn scar to targeted warning</a:t>
            </a:r>
            <a:endParaRPr lang="en-US" sz="3400" dirty="0"/>
          </a:p>
        </p:txBody>
      </p:sp>
      <p:sp>
        <p:nvSpPr>
          <p:cNvPr id="4" name="Text 2"/>
          <p:cNvSpPr/>
          <p:nvPr/>
        </p:nvSpPr>
        <p:spPr>
          <a:xfrm>
            <a:off x="548640" y="1783080"/>
            <a:ext cx="10424160" cy="457200"/>
          </a:xfrm>
          <a:prstGeom prst="rect">
            <a:avLst/>
          </a:prstGeom>
          <a:noFill/>
          <a:ln/>
        </p:spPr>
        <p:txBody>
          <a:bodyPr wrap="square" lIns="0" tIns="0" rIns="0" bIns="0" rtlCol="0" anchor="t"/>
          <a:lstStyle/>
          <a:p>
            <a:pPr marL="0" indent="0">
              <a:buNone/>
            </a:pPr>
            <a:r>
              <a:rPr lang="en-US" sz="1500" dirty="0">
                <a:solidFill>
                  <a:srgbClr val="47564C"/>
                </a:solidFill>
                <a:latin typeface="Calibri" pitchFamily="34" charset="0"/>
                <a:ea typeface="Calibri" pitchFamily="34" charset="-122"/>
                <a:cs typeface="Calibri" pitchFamily="34" charset="-120"/>
              </a:rPr>
              <a:t>Alluvion is designed around three questions, answered in order — like a triage doctor. The physics already exists; today it's run by hand, basin by basin. Alluvion runs it as a continuous, automated watch.</a:t>
            </a:r>
            <a:endParaRPr lang="en-US" sz="1500" dirty="0"/>
          </a:p>
        </p:txBody>
      </p:sp>
      <p:sp>
        <p:nvSpPr>
          <p:cNvPr id="5" name="Shape 3"/>
          <p:cNvSpPr/>
          <p:nvPr/>
        </p:nvSpPr>
        <p:spPr>
          <a:xfrm>
            <a:off x="548640" y="2468880"/>
            <a:ext cx="3511296" cy="3017520"/>
          </a:xfrm>
          <a:prstGeom prst="roundRect">
            <a:avLst>
              <a:gd name="adj" fmla="val 3333"/>
            </a:avLst>
          </a:prstGeom>
          <a:solidFill>
            <a:srgbClr val="F8E9DE"/>
          </a:solidFill>
          <a:ln/>
        </p:spPr>
      </p:sp>
      <p:sp>
        <p:nvSpPr>
          <p:cNvPr id="6" name="Text 4"/>
          <p:cNvSpPr/>
          <p:nvPr/>
        </p:nvSpPr>
        <p:spPr>
          <a:xfrm>
            <a:off x="868680" y="2706624"/>
            <a:ext cx="1097280" cy="548640"/>
          </a:xfrm>
          <a:prstGeom prst="rect">
            <a:avLst/>
          </a:prstGeom>
          <a:noFill/>
          <a:ln/>
        </p:spPr>
        <p:txBody>
          <a:bodyPr wrap="square" lIns="0" tIns="0" rIns="0" bIns="0" rtlCol="0" anchor="ctr"/>
          <a:lstStyle/>
          <a:p>
            <a:pPr marL="0" indent="0">
              <a:buNone/>
            </a:pPr>
            <a:r>
              <a:rPr lang="en-US" sz="3000" b="1" dirty="0">
                <a:solidFill>
                  <a:srgbClr val="94A096"/>
                </a:solidFill>
                <a:latin typeface="Century Schoolbook" pitchFamily="34" charset="0"/>
                <a:ea typeface="Century Schoolbook" pitchFamily="34" charset="-122"/>
                <a:cs typeface="Century Schoolbook" pitchFamily="34" charset="-120"/>
              </a:rPr>
              <a:t>01</a:t>
            </a:r>
            <a:endParaRPr lang="en-US" sz="3000" dirty="0"/>
          </a:p>
        </p:txBody>
      </p:sp>
      <p:sp>
        <p:nvSpPr>
          <p:cNvPr id="7" name="Shape 5"/>
          <p:cNvSpPr/>
          <p:nvPr/>
        </p:nvSpPr>
        <p:spPr>
          <a:xfrm>
            <a:off x="3099816" y="2743200"/>
            <a:ext cx="621792" cy="621792"/>
          </a:xfrm>
          <a:prstGeom prst="ellipse">
            <a:avLst/>
          </a:prstGeom>
          <a:solidFill>
            <a:srgbClr val="C85A28"/>
          </a:solidFill>
          <a:ln/>
        </p:spPr>
      </p:sp>
      <p:pic>
        <p:nvPicPr>
          <p:cNvPr id="8" name="Image 0" descr="assets/ic_satellite_F0E8D7.png"/>
          <p:cNvPicPr>
            <a:picLocks noChangeAspect="1"/>
          </p:cNvPicPr>
          <p:nvPr/>
        </p:nvPicPr>
        <p:blipFill>
          <a:blip r:embed="rId3"/>
          <a:stretch>
            <a:fillRect/>
          </a:stretch>
        </p:blipFill>
        <p:spPr>
          <a:xfrm>
            <a:off x="3249046" y="2892430"/>
            <a:ext cx="323332" cy="323332"/>
          </a:xfrm>
          <a:prstGeom prst="rect">
            <a:avLst/>
          </a:prstGeom>
        </p:spPr>
      </p:pic>
      <p:sp>
        <p:nvSpPr>
          <p:cNvPr id="9" name="Text 6"/>
          <p:cNvSpPr/>
          <p:nvPr/>
        </p:nvSpPr>
        <p:spPr>
          <a:xfrm>
            <a:off x="896112" y="3401568"/>
            <a:ext cx="2871216" cy="256032"/>
          </a:xfrm>
          <a:prstGeom prst="rect">
            <a:avLst/>
          </a:prstGeom>
          <a:noFill/>
          <a:ln/>
        </p:spPr>
        <p:txBody>
          <a:bodyPr wrap="square" lIns="0" tIns="0" rIns="0" bIns="0" rtlCol="0" anchor="ctr"/>
          <a:lstStyle/>
          <a:p>
            <a:pPr marL="0" indent="0">
              <a:buNone/>
            </a:pPr>
            <a:r>
              <a:rPr lang="en-US" sz="1100" b="1" kern="0" spc="200" dirty="0">
                <a:solidFill>
                  <a:srgbClr val="C85A28"/>
                </a:solidFill>
                <a:latin typeface="Calibri" pitchFamily="34" charset="0"/>
                <a:ea typeface="Calibri" pitchFamily="34" charset="-122"/>
                <a:cs typeface="Calibri" pitchFamily="34" charset="-120"/>
              </a:rPr>
              <a:t>PERCEIVE</a:t>
            </a:r>
            <a:endParaRPr lang="en-US" sz="1100" dirty="0"/>
          </a:p>
        </p:txBody>
      </p:sp>
      <p:sp>
        <p:nvSpPr>
          <p:cNvPr id="10" name="Text 7"/>
          <p:cNvSpPr/>
          <p:nvPr/>
        </p:nvSpPr>
        <p:spPr>
          <a:xfrm>
            <a:off x="896112" y="3657600"/>
            <a:ext cx="2852928" cy="777240"/>
          </a:xfrm>
          <a:prstGeom prst="rect">
            <a:avLst/>
          </a:prstGeom>
          <a:noFill/>
          <a:ln/>
        </p:spPr>
        <p:txBody>
          <a:bodyPr wrap="square" lIns="0" tIns="0" rIns="0" bIns="0" rtlCol="0" anchor="t"/>
          <a:lstStyle/>
          <a:p>
            <a:pPr marL="0" indent="0">
              <a:lnSpc>
                <a:spcPct val="98000"/>
              </a:lnSpc>
              <a:buNone/>
            </a:pPr>
            <a:r>
              <a:rPr lang="en-US" sz="1750" b="1" dirty="0">
                <a:solidFill>
                  <a:srgbClr val="1B3A29"/>
                </a:solidFill>
                <a:latin typeface="Century Schoolbook" pitchFamily="34" charset="0"/>
                <a:ea typeface="Century Schoolbook" pitchFamily="34" charset="-122"/>
                <a:cs typeface="Century Schoolbook" pitchFamily="34" charset="-120"/>
              </a:rPr>
              <a:t>Is this hillside dangerous?</a:t>
            </a:r>
            <a:endParaRPr lang="en-US" sz="1750" dirty="0"/>
          </a:p>
        </p:txBody>
      </p:sp>
      <p:sp>
        <p:nvSpPr>
          <p:cNvPr id="11" name="Text 8"/>
          <p:cNvSpPr/>
          <p:nvPr/>
        </p:nvSpPr>
        <p:spPr>
          <a:xfrm>
            <a:off x="896112" y="4462272"/>
            <a:ext cx="2852928" cy="914400"/>
          </a:xfrm>
          <a:prstGeom prst="rect">
            <a:avLst/>
          </a:prstGeom>
          <a:noFill/>
          <a:ln/>
        </p:spPr>
        <p:txBody>
          <a:bodyPr wrap="square" lIns="0" tIns="0" rIns="0" bIns="0" rtlCol="0" anchor="t"/>
          <a:lstStyle/>
          <a:p>
            <a:pPr marL="0" indent="0">
              <a:lnSpc>
                <a:spcPct val="110000"/>
              </a:lnSpc>
              <a:buNone/>
            </a:pPr>
            <a:r>
              <a:rPr lang="en-US" sz="1250" dirty="0">
                <a:solidFill>
                  <a:srgbClr val="47564C"/>
                </a:solidFill>
                <a:latin typeface="Calibri" pitchFamily="34" charset="0"/>
                <a:ea typeface="Calibri" pitchFamily="34" charset="-122"/>
                <a:cs typeface="Calibri" pitchFamily="34" charset="-120"/>
              </a:rPr>
              <a:t>Detect the burn scar, slope and soil erodibility straight from before/after satellite imagery.</a:t>
            </a:r>
            <a:endParaRPr lang="en-US" sz="1250" dirty="0"/>
          </a:p>
        </p:txBody>
      </p:sp>
      <p:sp>
        <p:nvSpPr>
          <p:cNvPr id="12" name="Shape 9"/>
          <p:cNvSpPr/>
          <p:nvPr/>
        </p:nvSpPr>
        <p:spPr>
          <a:xfrm>
            <a:off x="4334256" y="2468880"/>
            <a:ext cx="3511296" cy="3017520"/>
          </a:xfrm>
          <a:prstGeom prst="roundRect">
            <a:avLst>
              <a:gd name="adj" fmla="val 3333"/>
            </a:avLst>
          </a:prstGeom>
          <a:solidFill>
            <a:srgbClr val="E9F1EA"/>
          </a:solidFill>
          <a:ln/>
        </p:spPr>
      </p:sp>
      <p:sp>
        <p:nvSpPr>
          <p:cNvPr id="13" name="Text 10"/>
          <p:cNvSpPr/>
          <p:nvPr/>
        </p:nvSpPr>
        <p:spPr>
          <a:xfrm>
            <a:off x="4654296" y="2706624"/>
            <a:ext cx="1097280" cy="548640"/>
          </a:xfrm>
          <a:prstGeom prst="rect">
            <a:avLst/>
          </a:prstGeom>
          <a:noFill/>
          <a:ln/>
        </p:spPr>
        <p:txBody>
          <a:bodyPr wrap="square" lIns="0" tIns="0" rIns="0" bIns="0" rtlCol="0" anchor="ctr"/>
          <a:lstStyle/>
          <a:p>
            <a:pPr marL="0" indent="0">
              <a:buNone/>
            </a:pPr>
            <a:r>
              <a:rPr lang="en-US" sz="3000" b="1" dirty="0">
                <a:solidFill>
                  <a:srgbClr val="94A096"/>
                </a:solidFill>
                <a:latin typeface="Century Schoolbook" pitchFamily="34" charset="0"/>
                <a:ea typeface="Century Schoolbook" pitchFamily="34" charset="-122"/>
                <a:cs typeface="Century Schoolbook" pitchFamily="34" charset="-120"/>
              </a:rPr>
              <a:t>02</a:t>
            </a:r>
            <a:endParaRPr lang="en-US" sz="3000" dirty="0"/>
          </a:p>
        </p:txBody>
      </p:sp>
      <p:sp>
        <p:nvSpPr>
          <p:cNvPr id="14" name="Shape 11"/>
          <p:cNvSpPr/>
          <p:nvPr/>
        </p:nvSpPr>
        <p:spPr>
          <a:xfrm>
            <a:off x="6885432" y="2743200"/>
            <a:ext cx="621792" cy="621792"/>
          </a:xfrm>
          <a:prstGeom prst="ellipse">
            <a:avLst/>
          </a:prstGeom>
          <a:solidFill>
            <a:srgbClr val="2E7D4F"/>
          </a:solidFill>
          <a:ln/>
        </p:spPr>
      </p:sp>
      <p:pic>
        <p:nvPicPr>
          <p:cNvPr id="15" name="Image 1" descr="assets/ic_scale_F0E8D7.png"/>
          <p:cNvPicPr>
            <a:picLocks noChangeAspect="1"/>
          </p:cNvPicPr>
          <p:nvPr/>
        </p:nvPicPr>
        <p:blipFill>
          <a:blip r:embed="rId4"/>
          <a:stretch>
            <a:fillRect/>
          </a:stretch>
        </p:blipFill>
        <p:spPr>
          <a:xfrm>
            <a:off x="7034662" y="2892430"/>
            <a:ext cx="323332" cy="323332"/>
          </a:xfrm>
          <a:prstGeom prst="rect">
            <a:avLst/>
          </a:prstGeom>
        </p:spPr>
      </p:pic>
      <p:sp>
        <p:nvSpPr>
          <p:cNvPr id="16" name="Text 12"/>
          <p:cNvSpPr/>
          <p:nvPr/>
        </p:nvSpPr>
        <p:spPr>
          <a:xfrm>
            <a:off x="4681728" y="3401568"/>
            <a:ext cx="2871216" cy="256032"/>
          </a:xfrm>
          <a:prstGeom prst="rect">
            <a:avLst/>
          </a:prstGeom>
          <a:noFill/>
          <a:ln/>
        </p:spPr>
        <p:txBody>
          <a:bodyPr wrap="square" lIns="0" tIns="0" rIns="0" bIns="0" rtlCol="0" anchor="ctr"/>
          <a:lstStyle/>
          <a:p>
            <a:pPr marL="0" indent="0">
              <a:buNone/>
            </a:pPr>
            <a:r>
              <a:rPr lang="en-US" sz="1100" b="1" kern="0" spc="200" dirty="0">
                <a:solidFill>
                  <a:srgbClr val="2E7D4F"/>
                </a:solidFill>
                <a:latin typeface="Calibri" pitchFamily="34" charset="0"/>
                <a:ea typeface="Calibri" pitchFamily="34" charset="-122"/>
                <a:cs typeface="Calibri" pitchFamily="34" charset="-120"/>
              </a:rPr>
              <a:t>ASSESS</a:t>
            </a:r>
            <a:endParaRPr lang="en-US" sz="1100" dirty="0"/>
          </a:p>
        </p:txBody>
      </p:sp>
      <p:sp>
        <p:nvSpPr>
          <p:cNvPr id="17" name="Text 13"/>
          <p:cNvSpPr/>
          <p:nvPr/>
        </p:nvSpPr>
        <p:spPr>
          <a:xfrm>
            <a:off x="4681728" y="3657600"/>
            <a:ext cx="2852928" cy="777240"/>
          </a:xfrm>
          <a:prstGeom prst="rect">
            <a:avLst/>
          </a:prstGeom>
          <a:noFill/>
          <a:ln/>
        </p:spPr>
        <p:txBody>
          <a:bodyPr wrap="square" lIns="0" tIns="0" rIns="0" bIns="0" rtlCol="0" anchor="t"/>
          <a:lstStyle/>
          <a:p>
            <a:pPr marL="0" indent="0">
              <a:lnSpc>
                <a:spcPct val="98000"/>
              </a:lnSpc>
              <a:buNone/>
            </a:pPr>
            <a:r>
              <a:rPr lang="en-US" sz="1750" b="1" dirty="0">
                <a:solidFill>
                  <a:srgbClr val="1B3A29"/>
                </a:solidFill>
                <a:latin typeface="Century Schoolbook" pitchFamily="34" charset="0"/>
                <a:ea typeface="Century Schoolbook" pitchFamily="34" charset="-122"/>
                <a:cs typeface="Century Schoolbook" pitchFamily="34" charset="-120"/>
              </a:rPr>
              <a:t>How likely — and what would it hurt?</a:t>
            </a:r>
            <a:endParaRPr lang="en-US" sz="1750" dirty="0"/>
          </a:p>
        </p:txBody>
      </p:sp>
      <p:sp>
        <p:nvSpPr>
          <p:cNvPr id="18" name="Text 14"/>
          <p:cNvSpPr/>
          <p:nvPr/>
        </p:nvSpPr>
        <p:spPr>
          <a:xfrm>
            <a:off x="4681728" y="4462272"/>
            <a:ext cx="2852928" cy="914400"/>
          </a:xfrm>
          <a:prstGeom prst="rect">
            <a:avLst/>
          </a:prstGeom>
          <a:noFill/>
          <a:ln/>
        </p:spPr>
        <p:txBody>
          <a:bodyPr wrap="square" lIns="0" tIns="0" rIns="0" bIns="0" rtlCol="0" anchor="t"/>
          <a:lstStyle/>
          <a:p>
            <a:pPr marL="0" indent="0">
              <a:lnSpc>
                <a:spcPct val="110000"/>
              </a:lnSpc>
              <a:buNone/>
            </a:pPr>
            <a:r>
              <a:rPr lang="en-US" sz="1250" dirty="0">
                <a:solidFill>
                  <a:srgbClr val="47564C"/>
                </a:solidFill>
                <a:latin typeface="Calibri" pitchFamily="34" charset="0"/>
                <a:ea typeface="Calibri" pitchFamily="34" charset="-122"/>
                <a:cs typeface="Calibri" pitchFamily="34" charset="-120"/>
              </a:rPr>
              <a:t>Run the official USGS physics for a debris flow, then look downhill at the people, roads, rivers and farmland in its path.</a:t>
            </a:r>
            <a:endParaRPr lang="en-US" sz="1250" dirty="0"/>
          </a:p>
        </p:txBody>
      </p:sp>
      <p:sp>
        <p:nvSpPr>
          <p:cNvPr id="19" name="Shape 15"/>
          <p:cNvSpPr/>
          <p:nvPr/>
        </p:nvSpPr>
        <p:spPr>
          <a:xfrm>
            <a:off x="8119872" y="2468880"/>
            <a:ext cx="3511296" cy="3017520"/>
          </a:xfrm>
          <a:prstGeom prst="roundRect">
            <a:avLst>
              <a:gd name="adj" fmla="val 3333"/>
            </a:avLst>
          </a:prstGeom>
          <a:solidFill>
            <a:srgbClr val="F8E9DE"/>
          </a:solidFill>
          <a:ln/>
        </p:spPr>
      </p:sp>
      <p:sp>
        <p:nvSpPr>
          <p:cNvPr id="20" name="Text 16"/>
          <p:cNvSpPr/>
          <p:nvPr/>
        </p:nvSpPr>
        <p:spPr>
          <a:xfrm>
            <a:off x="8439912" y="2706624"/>
            <a:ext cx="1097280" cy="548640"/>
          </a:xfrm>
          <a:prstGeom prst="rect">
            <a:avLst/>
          </a:prstGeom>
          <a:noFill/>
          <a:ln/>
        </p:spPr>
        <p:txBody>
          <a:bodyPr wrap="square" lIns="0" tIns="0" rIns="0" bIns="0" rtlCol="0" anchor="ctr"/>
          <a:lstStyle/>
          <a:p>
            <a:pPr marL="0" indent="0">
              <a:buNone/>
            </a:pPr>
            <a:r>
              <a:rPr lang="en-US" sz="3000" b="1" dirty="0">
                <a:solidFill>
                  <a:srgbClr val="94A096"/>
                </a:solidFill>
                <a:latin typeface="Century Schoolbook" pitchFamily="34" charset="0"/>
                <a:ea typeface="Century Schoolbook" pitchFamily="34" charset="-122"/>
                <a:cs typeface="Century Schoolbook" pitchFamily="34" charset="-120"/>
              </a:rPr>
              <a:t>03</a:t>
            </a:r>
            <a:endParaRPr lang="en-US" sz="3000" dirty="0"/>
          </a:p>
        </p:txBody>
      </p:sp>
      <p:sp>
        <p:nvSpPr>
          <p:cNvPr id="21" name="Shape 17"/>
          <p:cNvSpPr/>
          <p:nvPr/>
        </p:nvSpPr>
        <p:spPr>
          <a:xfrm>
            <a:off x="10671048" y="2743200"/>
            <a:ext cx="621792" cy="621792"/>
          </a:xfrm>
          <a:prstGeom prst="ellipse">
            <a:avLst/>
          </a:prstGeom>
          <a:solidFill>
            <a:srgbClr val="C85A28"/>
          </a:solidFill>
          <a:ln/>
        </p:spPr>
      </p:sp>
      <p:pic>
        <p:nvPicPr>
          <p:cNvPr id="22" name="Image 2" descr="assets/ic_brain_F0E8D7.png"/>
          <p:cNvPicPr>
            <a:picLocks noChangeAspect="1"/>
          </p:cNvPicPr>
          <p:nvPr/>
        </p:nvPicPr>
        <p:blipFill>
          <a:blip r:embed="rId5"/>
          <a:stretch>
            <a:fillRect/>
          </a:stretch>
        </p:blipFill>
        <p:spPr>
          <a:xfrm>
            <a:off x="10820278" y="2892430"/>
            <a:ext cx="323332" cy="323332"/>
          </a:xfrm>
          <a:prstGeom prst="rect">
            <a:avLst/>
          </a:prstGeom>
        </p:spPr>
      </p:pic>
      <p:sp>
        <p:nvSpPr>
          <p:cNvPr id="23" name="Text 18"/>
          <p:cNvSpPr/>
          <p:nvPr/>
        </p:nvSpPr>
        <p:spPr>
          <a:xfrm>
            <a:off x="8467344" y="3401568"/>
            <a:ext cx="2871216" cy="256032"/>
          </a:xfrm>
          <a:prstGeom prst="rect">
            <a:avLst/>
          </a:prstGeom>
          <a:noFill/>
          <a:ln/>
        </p:spPr>
        <p:txBody>
          <a:bodyPr wrap="square" lIns="0" tIns="0" rIns="0" bIns="0" rtlCol="0" anchor="ctr"/>
          <a:lstStyle/>
          <a:p>
            <a:pPr marL="0" indent="0">
              <a:buNone/>
            </a:pPr>
            <a:r>
              <a:rPr lang="en-US" sz="1100" b="1" kern="0" spc="200" dirty="0">
                <a:solidFill>
                  <a:srgbClr val="C85A28"/>
                </a:solidFill>
                <a:latin typeface="Calibri" pitchFamily="34" charset="0"/>
                <a:ea typeface="Calibri" pitchFamily="34" charset="-122"/>
                <a:cs typeface="Calibri" pitchFamily="34" charset="-120"/>
              </a:rPr>
              <a:t>ACT</a:t>
            </a:r>
            <a:endParaRPr lang="en-US" sz="1100" dirty="0"/>
          </a:p>
        </p:txBody>
      </p:sp>
      <p:sp>
        <p:nvSpPr>
          <p:cNvPr id="24" name="Text 19"/>
          <p:cNvSpPr/>
          <p:nvPr/>
        </p:nvSpPr>
        <p:spPr>
          <a:xfrm>
            <a:off x="8467344" y="3657600"/>
            <a:ext cx="2852928" cy="777240"/>
          </a:xfrm>
          <a:prstGeom prst="rect">
            <a:avLst/>
          </a:prstGeom>
          <a:noFill/>
          <a:ln/>
        </p:spPr>
        <p:txBody>
          <a:bodyPr wrap="square" lIns="0" tIns="0" rIns="0" bIns="0" rtlCol="0" anchor="t"/>
          <a:lstStyle/>
          <a:p>
            <a:pPr marL="0" indent="0">
              <a:lnSpc>
                <a:spcPct val="98000"/>
              </a:lnSpc>
              <a:buNone/>
            </a:pPr>
            <a:r>
              <a:rPr lang="en-US" sz="1750" b="1" dirty="0">
                <a:solidFill>
                  <a:srgbClr val="1B3A29"/>
                </a:solidFill>
                <a:latin typeface="Century Schoolbook" pitchFamily="34" charset="0"/>
                <a:ea typeface="Century Schoolbook" pitchFamily="34" charset="-122"/>
                <a:cs typeface="Century Schoolbook" pitchFamily="34" charset="-120"/>
              </a:rPr>
              <a:t>What should we tell people?</a:t>
            </a:r>
            <a:endParaRPr lang="en-US" sz="1750" dirty="0"/>
          </a:p>
        </p:txBody>
      </p:sp>
      <p:sp>
        <p:nvSpPr>
          <p:cNvPr id="25" name="Text 20"/>
          <p:cNvSpPr/>
          <p:nvPr/>
        </p:nvSpPr>
        <p:spPr>
          <a:xfrm>
            <a:off x="8467344" y="4462272"/>
            <a:ext cx="2852928" cy="914400"/>
          </a:xfrm>
          <a:prstGeom prst="rect">
            <a:avLst/>
          </a:prstGeom>
          <a:noFill/>
          <a:ln/>
        </p:spPr>
        <p:txBody>
          <a:bodyPr wrap="square" lIns="0" tIns="0" rIns="0" bIns="0" rtlCol="0" anchor="t"/>
          <a:lstStyle/>
          <a:p>
            <a:pPr marL="0" indent="0">
              <a:lnSpc>
                <a:spcPct val="110000"/>
              </a:lnSpc>
              <a:buNone/>
            </a:pPr>
            <a:r>
              <a:rPr lang="en-US" sz="1250" dirty="0">
                <a:solidFill>
                  <a:srgbClr val="47564C"/>
                </a:solidFill>
                <a:latin typeface="Calibri" pitchFamily="34" charset="0"/>
                <a:ea typeface="Calibri" pitchFamily="34" charset="-122"/>
                <a:cs typeface="Calibri" pitchFamily="34" charset="-120"/>
              </a:rPr>
              <a:t>Gemini drafts a clear, plain-language warning. A human approves and sends it to responders.</a:t>
            </a:r>
            <a:endParaRPr lang="en-US" sz="1250" dirty="0"/>
          </a:p>
        </p:txBody>
      </p:sp>
      <p:sp>
        <p:nvSpPr>
          <p:cNvPr id="26" name="Text 21"/>
          <p:cNvSpPr/>
          <p:nvPr/>
        </p:nvSpPr>
        <p:spPr>
          <a:xfrm>
            <a:off x="548640" y="5852160"/>
            <a:ext cx="11091672" cy="457200"/>
          </a:xfrm>
          <a:prstGeom prst="rect">
            <a:avLst/>
          </a:prstGeom>
          <a:noFill/>
          <a:ln/>
        </p:spPr>
        <p:txBody>
          <a:bodyPr wrap="square" lIns="0" tIns="0" rIns="0" bIns="0" rtlCol="0" anchor="ctr"/>
          <a:lstStyle/>
          <a:p>
            <a:pPr marL="0" indent="0" algn="ctr">
              <a:buNone/>
            </a:pPr>
            <a:r>
              <a:rPr lang="en-US" sz="1500" b="1" dirty="0">
                <a:solidFill>
                  <a:srgbClr val="C85A28"/>
                </a:solidFill>
                <a:latin typeface="Calibri" pitchFamily="34" charset="0"/>
                <a:ea typeface="Calibri" pitchFamily="34" charset="-122"/>
                <a:cs typeface="Calibri" pitchFamily="34" charset="-120"/>
              </a:rPr>
              <a:t>It won't stop debris flows — </a:t>
            </a:r>
            <a:r>
              <a:rPr lang="en-US" sz="1500" dirty="0">
                <a:solidFill>
                  <a:srgbClr val="1B3A29"/>
                </a:solidFill>
                <a:latin typeface="Calibri" pitchFamily="34" charset="0"/>
                <a:ea typeface="Calibri" pitchFamily="34" charset="-122"/>
                <a:cs typeface="Calibri" pitchFamily="34" charset="-120"/>
              </a:rPr>
              <a:t>it points responders to where they must act, before the storm arrives.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A"/>
        </a:solidFill>
        <a:effectLst/>
      </p:bgPr>
    </p:bg>
    <p:spTree>
      <p:nvGrpSpPr>
        <p:cNvPr id="1" name=""/>
        <p:cNvGrpSpPr/>
        <p:nvPr/>
      </p:nvGrpSpPr>
      <p:grpSpPr>
        <a:xfrm>
          <a:off x="0" y="0"/>
          <a:ext cx="0" cy="0"/>
          <a:chOff x="0" y="0"/>
          <a:chExt cx="0" cy="0"/>
        </a:xfrm>
      </p:grpSpPr>
      <p:sp>
        <p:nvSpPr>
          <p:cNvPr id="2" name="Text 0"/>
          <p:cNvSpPr/>
          <p:nvPr/>
        </p:nvSpPr>
        <p:spPr>
          <a:xfrm>
            <a:off x="548640" y="502920"/>
            <a:ext cx="10515600" cy="292608"/>
          </a:xfrm>
          <a:prstGeom prst="rect">
            <a:avLst/>
          </a:prstGeom>
          <a:noFill/>
          <a:ln/>
        </p:spPr>
        <p:txBody>
          <a:bodyPr wrap="square" lIns="0" tIns="0" rIns="0" bIns="0" rtlCol="0" anchor="ctr"/>
          <a:lstStyle/>
          <a:p>
            <a:pPr marL="0" indent="0" algn="l">
              <a:buNone/>
            </a:pPr>
            <a:r>
              <a:rPr lang="en-US" sz="1250" b="1" kern="0" spc="300" dirty="0">
                <a:solidFill>
                  <a:srgbClr val="C85A28"/>
                </a:solidFill>
                <a:latin typeface="Calibri" pitchFamily="34" charset="0"/>
                <a:ea typeface="Calibri" pitchFamily="34" charset="-122"/>
                <a:cs typeface="Calibri" pitchFamily="34" charset="-120"/>
              </a:rPr>
              <a:t>THE SCIENCE — GROUNDED, NOT INVENTED</a:t>
            </a:r>
            <a:endParaRPr lang="en-US" sz="1250" dirty="0"/>
          </a:p>
        </p:txBody>
      </p:sp>
      <p:sp>
        <p:nvSpPr>
          <p:cNvPr id="3" name="Text 1"/>
          <p:cNvSpPr/>
          <p:nvPr/>
        </p:nvSpPr>
        <p:spPr>
          <a:xfrm>
            <a:off x="548640" y="868680"/>
            <a:ext cx="10972800" cy="914400"/>
          </a:xfrm>
          <a:prstGeom prst="rect">
            <a:avLst/>
          </a:prstGeom>
          <a:noFill/>
          <a:ln/>
        </p:spPr>
        <p:txBody>
          <a:bodyPr wrap="square" lIns="0" tIns="0" rIns="0" bIns="0" rtlCol="0" anchor="ctr"/>
          <a:lstStyle/>
          <a:p>
            <a:pPr marL="0" indent="0" algn="l">
              <a:lnSpc>
                <a:spcPct val="98000"/>
              </a:lnSpc>
              <a:buNone/>
            </a:pPr>
            <a:r>
              <a:rPr lang="en-US" sz="3300" b="1" dirty="0">
                <a:solidFill>
                  <a:srgbClr val="1B3A29"/>
                </a:solidFill>
                <a:latin typeface="Century Schoolbook" pitchFamily="34" charset="0"/>
                <a:ea typeface="Century Schoolbook" pitchFamily="34" charset="-122"/>
                <a:cs typeface="Century Schoolbook" pitchFamily="34" charset="-120"/>
              </a:rPr>
              <a:t>Real USGS physics, at the speed of software</a:t>
            </a:r>
            <a:endParaRPr lang="en-US" sz="3300" dirty="0"/>
          </a:p>
        </p:txBody>
      </p:sp>
      <p:sp>
        <p:nvSpPr>
          <p:cNvPr id="4" name="Text 2"/>
          <p:cNvSpPr/>
          <p:nvPr/>
        </p:nvSpPr>
        <p:spPr>
          <a:xfrm>
            <a:off x="548640" y="1783080"/>
            <a:ext cx="5943600" cy="914400"/>
          </a:xfrm>
          <a:prstGeom prst="rect">
            <a:avLst/>
          </a:prstGeom>
          <a:noFill/>
          <a:ln/>
        </p:spPr>
        <p:txBody>
          <a:bodyPr wrap="square" lIns="0" tIns="0" rIns="0" bIns="0" rtlCol="0" anchor="t"/>
          <a:lstStyle/>
          <a:p>
            <a:pPr marL="0" indent="0">
              <a:lnSpc>
                <a:spcPct val="115000"/>
              </a:lnSpc>
              <a:buNone/>
            </a:pPr>
            <a:r>
              <a:rPr lang="en-US" sz="1450" dirty="0">
                <a:solidFill>
                  <a:srgbClr val="47564C"/>
                </a:solidFill>
                <a:latin typeface="Calibri" pitchFamily="34" charset="0"/>
                <a:ea typeface="Calibri" pitchFamily="34" charset="-122"/>
                <a:cs typeface="Calibri" pitchFamily="34" charset="-120"/>
              </a:rPr>
              <a:t>Alluvion is grounded in the official </a:t>
            </a:r>
            <a:r>
              <a:rPr lang="en-US" sz="1450" b="1" dirty="0">
                <a:solidFill>
                  <a:srgbClr val="1B3A29"/>
                </a:solidFill>
                <a:latin typeface="Calibri" pitchFamily="34" charset="0"/>
                <a:ea typeface="Calibri" pitchFamily="34" charset="-122"/>
                <a:cs typeface="Calibri" pitchFamily="34" charset="-120"/>
              </a:rPr>
              <a:t>USGS Staley (2017) M1 model</a:t>
            </a:r>
            <a:r>
              <a:rPr lang="en-US" sz="1450" dirty="0">
                <a:solidFill>
                  <a:srgbClr val="47564C"/>
                </a:solidFill>
                <a:latin typeface="Calibri" pitchFamily="34" charset="0"/>
                <a:ea typeface="Calibri" pitchFamily="34" charset="-122"/>
                <a:cs typeface="Calibri" pitchFamily="34" charset="-120"/>
              </a:rPr>
              <a:t> — the same equation USGS and the National Weather Service use to issue real debris-flow warnings. </a:t>
            </a:r>
            <a:r>
              <a:rPr lang="en-US" sz="1450" b="1" dirty="0">
                <a:solidFill>
                  <a:srgbClr val="C85A28"/>
                </a:solidFill>
                <a:latin typeface="Calibri" pitchFamily="34" charset="0"/>
                <a:ea typeface="Calibri" pitchFamily="34" charset="-122"/>
                <a:cs typeface="Calibri" pitchFamily="34" charset="-120"/>
              </a:rPr>
              <a:t>We apply it, not reinvent it.</a:t>
            </a:r>
            <a:endParaRPr lang="en-US" sz="1450" dirty="0"/>
          </a:p>
        </p:txBody>
      </p:sp>
      <p:sp>
        <p:nvSpPr>
          <p:cNvPr id="5" name="Shape 3"/>
          <p:cNvSpPr/>
          <p:nvPr/>
        </p:nvSpPr>
        <p:spPr>
          <a:xfrm>
            <a:off x="548640" y="2880360"/>
            <a:ext cx="566928" cy="566928"/>
          </a:xfrm>
          <a:prstGeom prst="ellipse">
            <a:avLst/>
          </a:prstGeom>
          <a:solidFill>
            <a:srgbClr val="C85A28"/>
          </a:solidFill>
          <a:ln/>
        </p:spPr>
      </p:sp>
      <p:pic>
        <p:nvPicPr>
          <p:cNvPr id="6" name="Image 0" descr="assets/ic_mountain_F0E8D7.png"/>
          <p:cNvPicPr>
            <a:picLocks noChangeAspect="1"/>
          </p:cNvPicPr>
          <p:nvPr/>
        </p:nvPicPr>
        <p:blipFill>
          <a:blip r:embed="rId3"/>
          <a:stretch>
            <a:fillRect/>
          </a:stretch>
        </p:blipFill>
        <p:spPr>
          <a:xfrm>
            <a:off x="684703" y="3016423"/>
            <a:ext cx="294803" cy="294803"/>
          </a:xfrm>
          <a:prstGeom prst="rect">
            <a:avLst/>
          </a:prstGeom>
        </p:spPr>
      </p:pic>
      <p:sp>
        <p:nvSpPr>
          <p:cNvPr id="7" name="Text 4"/>
          <p:cNvSpPr/>
          <p:nvPr/>
        </p:nvSpPr>
        <p:spPr>
          <a:xfrm>
            <a:off x="1280160" y="2862072"/>
            <a:ext cx="2194560" cy="320040"/>
          </a:xfrm>
          <a:prstGeom prst="rect">
            <a:avLst/>
          </a:prstGeom>
          <a:noFill/>
          <a:ln/>
        </p:spPr>
        <p:txBody>
          <a:bodyPr wrap="square" lIns="0" tIns="0" rIns="0" bIns="0" rtlCol="0" anchor="ctr"/>
          <a:lstStyle/>
          <a:p>
            <a:pPr marL="0" indent="0">
              <a:buNone/>
            </a:pPr>
            <a:r>
              <a:rPr lang="en-US" sz="1500" b="1" dirty="0">
                <a:solidFill>
                  <a:srgbClr val="1B3A29"/>
                </a:solidFill>
                <a:latin typeface="Century Schoolbook" pitchFamily="34" charset="0"/>
                <a:ea typeface="Century Schoolbook" pitchFamily="34" charset="-122"/>
                <a:cs typeface="Century Schoolbook" pitchFamily="34" charset="-120"/>
              </a:rPr>
              <a:t>T — Terrain</a:t>
            </a:r>
            <a:endParaRPr lang="en-US" sz="1500" dirty="0"/>
          </a:p>
        </p:txBody>
      </p:sp>
      <p:sp>
        <p:nvSpPr>
          <p:cNvPr id="8" name="Text 5"/>
          <p:cNvSpPr/>
          <p:nvPr/>
        </p:nvSpPr>
        <p:spPr>
          <a:xfrm>
            <a:off x="1280160" y="3163824"/>
            <a:ext cx="5120640" cy="292608"/>
          </a:xfrm>
          <a:prstGeom prst="rect">
            <a:avLst/>
          </a:prstGeom>
          <a:noFill/>
          <a:ln/>
        </p:spPr>
        <p:txBody>
          <a:bodyPr wrap="square" lIns="0" tIns="0" rIns="0" bIns="0" rtlCol="0" anchor="ctr"/>
          <a:lstStyle/>
          <a:p>
            <a:pPr marL="0" indent="0">
              <a:buNone/>
            </a:pPr>
            <a:r>
              <a:rPr lang="en-US" sz="1150" dirty="0">
                <a:solidFill>
                  <a:srgbClr val="47564C"/>
                </a:solidFill>
                <a:latin typeface="Calibri" pitchFamily="34" charset="0"/>
                <a:ea typeface="Calibri" pitchFamily="34" charset="-122"/>
                <a:cs typeface="Calibri" pitchFamily="34" charset="-120"/>
              </a:rPr>
              <a:t>Fraction of upslope that is steep (≥23°) and burned</a:t>
            </a:r>
            <a:endParaRPr lang="en-US" sz="1150" dirty="0"/>
          </a:p>
        </p:txBody>
      </p:sp>
      <p:sp>
        <p:nvSpPr>
          <p:cNvPr id="9" name="Text 6"/>
          <p:cNvSpPr/>
          <p:nvPr/>
        </p:nvSpPr>
        <p:spPr>
          <a:xfrm>
            <a:off x="3611880" y="2862072"/>
            <a:ext cx="2788920" cy="320040"/>
          </a:xfrm>
          <a:prstGeom prst="rect">
            <a:avLst/>
          </a:prstGeom>
          <a:noFill/>
          <a:ln/>
        </p:spPr>
        <p:txBody>
          <a:bodyPr wrap="square" lIns="0" tIns="0" rIns="0" bIns="0" rtlCol="0" anchor="ctr"/>
          <a:lstStyle/>
          <a:p>
            <a:pPr marL="0" indent="0" algn="r">
              <a:buNone/>
            </a:pPr>
            <a:r>
              <a:rPr lang="en-US" sz="1100" i="1" dirty="0">
                <a:solidFill>
                  <a:srgbClr val="2E7D4F"/>
                </a:solidFill>
                <a:latin typeface="Calibri" pitchFamily="34" charset="0"/>
                <a:ea typeface="Calibri" pitchFamily="34" charset="-122"/>
                <a:cs typeface="Calibri" pitchFamily="34" charset="-120"/>
              </a:rPr>
              <a:t>SRTM slope × burn map</a:t>
            </a:r>
            <a:endParaRPr lang="en-US" sz="1100" dirty="0"/>
          </a:p>
        </p:txBody>
      </p:sp>
      <p:sp>
        <p:nvSpPr>
          <p:cNvPr id="10" name="Shape 7"/>
          <p:cNvSpPr/>
          <p:nvPr/>
        </p:nvSpPr>
        <p:spPr>
          <a:xfrm>
            <a:off x="548640" y="3666744"/>
            <a:ext cx="566928" cy="566928"/>
          </a:xfrm>
          <a:prstGeom prst="ellipse">
            <a:avLst/>
          </a:prstGeom>
          <a:solidFill>
            <a:srgbClr val="C85A28"/>
          </a:solidFill>
          <a:ln/>
        </p:spPr>
      </p:sp>
      <p:pic>
        <p:nvPicPr>
          <p:cNvPr id="11" name="Image 1" descr="assets/ic_fire2_F0E8D7.png"/>
          <p:cNvPicPr>
            <a:picLocks noChangeAspect="1"/>
          </p:cNvPicPr>
          <p:nvPr/>
        </p:nvPicPr>
        <p:blipFill>
          <a:blip r:embed="rId4"/>
          <a:stretch>
            <a:fillRect/>
          </a:stretch>
        </p:blipFill>
        <p:spPr>
          <a:xfrm>
            <a:off x="684703" y="3802807"/>
            <a:ext cx="294803" cy="294803"/>
          </a:xfrm>
          <a:prstGeom prst="rect">
            <a:avLst/>
          </a:prstGeom>
        </p:spPr>
      </p:pic>
      <p:sp>
        <p:nvSpPr>
          <p:cNvPr id="12" name="Text 8"/>
          <p:cNvSpPr/>
          <p:nvPr/>
        </p:nvSpPr>
        <p:spPr>
          <a:xfrm>
            <a:off x="1280160" y="3648456"/>
            <a:ext cx="2194560" cy="320040"/>
          </a:xfrm>
          <a:prstGeom prst="rect">
            <a:avLst/>
          </a:prstGeom>
          <a:noFill/>
          <a:ln/>
        </p:spPr>
        <p:txBody>
          <a:bodyPr wrap="square" lIns="0" tIns="0" rIns="0" bIns="0" rtlCol="0" anchor="ctr"/>
          <a:lstStyle/>
          <a:p>
            <a:pPr marL="0" indent="0">
              <a:buNone/>
            </a:pPr>
            <a:r>
              <a:rPr lang="en-US" sz="1500" b="1" dirty="0">
                <a:solidFill>
                  <a:srgbClr val="1B3A29"/>
                </a:solidFill>
                <a:latin typeface="Century Schoolbook" pitchFamily="34" charset="0"/>
                <a:ea typeface="Century Schoolbook" pitchFamily="34" charset="-122"/>
                <a:cs typeface="Century Schoolbook" pitchFamily="34" charset="-120"/>
              </a:rPr>
              <a:t>F — Fire</a:t>
            </a:r>
            <a:endParaRPr lang="en-US" sz="1500" dirty="0"/>
          </a:p>
        </p:txBody>
      </p:sp>
      <p:sp>
        <p:nvSpPr>
          <p:cNvPr id="13" name="Text 9"/>
          <p:cNvSpPr/>
          <p:nvPr/>
        </p:nvSpPr>
        <p:spPr>
          <a:xfrm>
            <a:off x="1280160" y="3950208"/>
            <a:ext cx="5120640" cy="292608"/>
          </a:xfrm>
          <a:prstGeom prst="rect">
            <a:avLst/>
          </a:prstGeom>
          <a:noFill/>
          <a:ln/>
        </p:spPr>
        <p:txBody>
          <a:bodyPr wrap="square" lIns="0" tIns="0" rIns="0" bIns="0" rtlCol="0" anchor="ctr"/>
          <a:lstStyle/>
          <a:p>
            <a:pPr marL="0" indent="0">
              <a:buNone/>
            </a:pPr>
            <a:r>
              <a:rPr lang="en-US" sz="1150" dirty="0">
                <a:solidFill>
                  <a:srgbClr val="47564C"/>
                </a:solidFill>
                <a:latin typeface="Calibri" pitchFamily="34" charset="0"/>
                <a:ea typeface="Calibri" pitchFamily="34" charset="-122"/>
                <a:cs typeface="Calibri" pitchFamily="34" charset="-120"/>
              </a:rPr>
              <a:t>How severe the burn was (dNBR burn-severity index)</a:t>
            </a:r>
            <a:endParaRPr lang="en-US" sz="1150" dirty="0"/>
          </a:p>
        </p:txBody>
      </p:sp>
      <p:sp>
        <p:nvSpPr>
          <p:cNvPr id="14" name="Text 10"/>
          <p:cNvSpPr/>
          <p:nvPr/>
        </p:nvSpPr>
        <p:spPr>
          <a:xfrm>
            <a:off x="3611880" y="3648456"/>
            <a:ext cx="2788920" cy="320040"/>
          </a:xfrm>
          <a:prstGeom prst="rect">
            <a:avLst/>
          </a:prstGeom>
          <a:noFill/>
          <a:ln/>
        </p:spPr>
        <p:txBody>
          <a:bodyPr wrap="square" lIns="0" tIns="0" rIns="0" bIns="0" rtlCol="0" anchor="ctr"/>
          <a:lstStyle/>
          <a:p>
            <a:pPr marL="0" indent="0" algn="r">
              <a:buNone/>
            </a:pPr>
            <a:r>
              <a:rPr lang="en-US" sz="1100" i="1" dirty="0">
                <a:solidFill>
                  <a:srgbClr val="2E7D4F"/>
                </a:solidFill>
                <a:latin typeface="Calibri" pitchFamily="34" charset="0"/>
                <a:ea typeface="Calibri" pitchFamily="34" charset="-122"/>
                <a:cs typeface="Calibri" pitchFamily="34" charset="-120"/>
              </a:rPr>
              <a:t>Sentinel-2 / Landsat</a:t>
            </a:r>
            <a:endParaRPr lang="en-US" sz="1100" dirty="0"/>
          </a:p>
        </p:txBody>
      </p:sp>
      <p:sp>
        <p:nvSpPr>
          <p:cNvPr id="15" name="Shape 11"/>
          <p:cNvSpPr/>
          <p:nvPr/>
        </p:nvSpPr>
        <p:spPr>
          <a:xfrm>
            <a:off x="548640" y="4453128"/>
            <a:ext cx="566928" cy="566928"/>
          </a:xfrm>
          <a:prstGeom prst="ellipse">
            <a:avLst/>
          </a:prstGeom>
          <a:solidFill>
            <a:srgbClr val="C85A28"/>
          </a:solidFill>
          <a:ln/>
        </p:spPr>
      </p:sp>
      <p:pic>
        <p:nvPicPr>
          <p:cNvPr id="16" name="Image 2" descr="assets/ic_seedling_F0E8D7.png"/>
          <p:cNvPicPr>
            <a:picLocks noChangeAspect="1"/>
          </p:cNvPicPr>
          <p:nvPr/>
        </p:nvPicPr>
        <p:blipFill>
          <a:blip r:embed="rId5"/>
          <a:stretch>
            <a:fillRect/>
          </a:stretch>
        </p:blipFill>
        <p:spPr>
          <a:xfrm>
            <a:off x="684703" y="4589191"/>
            <a:ext cx="294803" cy="294803"/>
          </a:xfrm>
          <a:prstGeom prst="rect">
            <a:avLst/>
          </a:prstGeom>
        </p:spPr>
      </p:pic>
      <p:sp>
        <p:nvSpPr>
          <p:cNvPr id="17" name="Text 12"/>
          <p:cNvSpPr/>
          <p:nvPr/>
        </p:nvSpPr>
        <p:spPr>
          <a:xfrm>
            <a:off x="1280160" y="4434840"/>
            <a:ext cx="2194560" cy="320040"/>
          </a:xfrm>
          <a:prstGeom prst="rect">
            <a:avLst/>
          </a:prstGeom>
          <a:noFill/>
          <a:ln/>
        </p:spPr>
        <p:txBody>
          <a:bodyPr wrap="square" lIns="0" tIns="0" rIns="0" bIns="0" rtlCol="0" anchor="ctr"/>
          <a:lstStyle/>
          <a:p>
            <a:pPr marL="0" indent="0">
              <a:buNone/>
            </a:pPr>
            <a:r>
              <a:rPr lang="en-US" sz="1500" b="1" dirty="0">
                <a:solidFill>
                  <a:srgbClr val="1B3A29"/>
                </a:solidFill>
                <a:latin typeface="Century Schoolbook" pitchFamily="34" charset="0"/>
                <a:ea typeface="Century Schoolbook" pitchFamily="34" charset="-122"/>
                <a:cs typeface="Century Schoolbook" pitchFamily="34" charset="-120"/>
              </a:rPr>
              <a:t>S — Soil</a:t>
            </a:r>
            <a:endParaRPr lang="en-US" sz="1500" dirty="0"/>
          </a:p>
        </p:txBody>
      </p:sp>
      <p:sp>
        <p:nvSpPr>
          <p:cNvPr id="18" name="Text 13"/>
          <p:cNvSpPr/>
          <p:nvPr/>
        </p:nvSpPr>
        <p:spPr>
          <a:xfrm>
            <a:off x="1280160" y="4736592"/>
            <a:ext cx="5120640" cy="292608"/>
          </a:xfrm>
          <a:prstGeom prst="rect">
            <a:avLst/>
          </a:prstGeom>
          <a:noFill/>
          <a:ln/>
        </p:spPr>
        <p:txBody>
          <a:bodyPr wrap="square" lIns="0" tIns="0" rIns="0" bIns="0" rtlCol="0" anchor="ctr"/>
          <a:lstStyle/>
          <a:p>
            <a:pPr marL="0" indent="0">
              <a:buNone/>
            </a:pPr>
            <a:r>
              <a:rPr lang="en-US" sz="1150" dirty="0">
                <a:solidFill>
                  <a:srgbClr val="47564C"/>
                </a:solidFill>
                <a:latin typeface="Calibri" pitchFamily="34" charset="0"/>
                <a:ea typeface="Calibri" pitchFamily="34" charset="-122"/>
                <a:cs typeface="Calibri" pitchFamily="34" charset="-120"/>
              </a:rPr>
              <a:t>How easily the ground washes away (K-factor)</a:t>
            </a:r>
            <a:endParaRPr lang="en-US" sz="1150" dirty="0"/>
          </a:p>
        </p:txBody>
      </p:sp>
      <p:sp>
        <p:nvSpPr>
          <p:cNvPr id="19" name="Text 14"/>
          <p:cNvSpPr/>
          <p:nvPr/>
        </p:nvSpPr>
        <p:spPr>
          <a:xfrm>
            <a:off x="3611880" y="4434840"/>
            <a:ext cx="2788920" cy="320040"/>
          </a:xfrm>
          <a:prstGeom prst="rect">
            <a:avLst/>
          </a:prstGeom>
          <a:noFill/>
          <a:ln/>
        </p:spPr>
        <p:txBody>
          <a:bodyPr wrap="square" lIns="0" tIns="0" rIns="0" bIns="0" rtlCol="0" anchor="ctr"/>
          <a:lstStyle/>
          <a:p>
            <a:pPr marL="0" indent="0" algn="r">
              <a:buNone/>
            </a:pPr>
            <a:r>
              <a:rPr lang="en-US" sz="1100" i="1" dirty="0">
                <a:solidFill>
                  <a:srgbClr val="2E7D4F"/>
                </a:solidFill>
                <a:latin typeface="Calibri" pitchFamily="34" charset="0"/>
                <a:ea typeface="Calibri" pitchFamily="34" charset="-122"/>
                <a:cs typeface="Calibri" pitchFamily="34" charset="-120"/>
              </a:rPr>
              <a:t>OpenLandMap</a:t>
            </a:r>
            <a:endParaRPr lang="en-US" sz="1100" dirty="0"/>
          </a:p>
        </p:txBody>
      </p:sp>
      <p:sp>
        <p:nvSpPr>
          <p:cNvPr id="20" name="Shape 15"/>
          <p:cNvSpPr/>
          <p:nvPr/>
        </p:nvSpPr>
        <p:spPr>
          <a:xfrm>
            <a:off x="548640" y="5239512"/>
            <a:ext cx="566928" cy="566928"/>
          </a:xfrm>
          <a:prstGeom prst="ellipse">
            <a:avLst/>
          </a:prstGeom>
          <a:solidFill>
            <a:srgbClr val="2E7D4F"/>
          </a:solidFill>
          <a:ln/>
        </p:spPr>
      </p:sp>
      <p:pic>
        <p:nvPicPr>
          <p:cNvPr id="21" name="Image 3" descr="assets/ic_cloud_F0E8D7.png"/>
          <p:cNvPicPr>
            <a:picLocks noChangeAspect="1"/>
          </p:cNvPicPr>
          <p:nvPr/>
        </p:nvPicPr>
        <p:blipFill>
          <a:blip r:embed="rId6"/>
          <a:stretch>
            <a:fillRect/>
          </a:stretch>
        </p:blipFill>
        <p:spPr>
          <a:xfrm>
            <a:off x="684703" y="5375575"/>
            <a:ext cx="294803" cy="294803"/>
          </a:xfrm>
          <a:prstGeom prst="rect">
            <a:avLst/>
          </a:prstGeom>
        </p:spPr>
      </p:pic>
      <p:sp>
        <p:nvSpPr>
          <p:cNvPr id="22" name="Text 16"/>
          <p:cNvSpPr/>
          <p:nvPr/>
        </p:nvSpPr>
        <p:spPr>
          <a:xfrm>
            <a:off x="1280160" y="5221224"/>
            <a:ext cx="2194560" cy="320040"/>
          </a:xfrm>
          <a:prstGeom prst="rect">
            <a:avLst/>
          </a:prstGeom>
          <a:noFill/>
          <a:ln/>
        </p:spPr>
        <p:txBody>
          <a:bodyPr wrap="square" lIns="0" tIns="0" rIns="0" bIns="0" rtlCol="0" anchor="ctr"/>
          <a:lstStyle/>
          <a:p>
            <a:pPr marL="0" indent="0">
              <a:buNone/>
            </a:pPr>
            <a:r>
              <a:rPr lang="en-US" sz="1500" b="1" dirty="0">
                <a:solidFill>
                  <a:srgbClr val="1B3A29"/>
                </a:solidFill>
                <a:latin typeface="Century Schoolbook" pitchFamily="34" charset="0"/>
                <a:ea typeface="Century Schoolbook" pitchFamily="34" charset="-122"/>
                <a:cs typeface="Century Schoolbook" pitchFamily="34" charset="-120"/>
              </a:rPr>
              <a:t>R — Rain</a:t>
            </a:r>
            <a:endParaRPr lang="en-US" sz="1500" dirty="0"/>
          </a:p>
        </p:txBody>
      </p:sp>
      <p:sp>
        <p:nvSpPr>
          <p:cNvPr id="23" name="Text 17"/>
          <p:cNvSpPr/>
          <p:nvPr/>
        </p:nvSpPr>
        <p:spPr>
          <a:xfrm>
            <a:off x="1280160" y="5522976"/>
            <a:ext cx="5120640" cy="292608"/>
          </a:xfrm>
          <a:prstGeom prst="rect">
            <a:avLst/>
          </a:prstGeom>
          <a:noFill/>
          <a:ln/>
        </p:spPr>
        <p:txBody>
          <a:bodyPr wrap="square" lIns="0" tIns="0" rIns="0" bIns="0" rtlCol="0" anchor="ctr"/>
          <a:lstStyle/>
          <a:p>
            <a:pPr marL="0" indent="0">
              <a:buNone/>
            </a:pPr>
            <a:r>
              <a:rPr lang="en-US" sz="1150" dirty="0">
                <a:solidFill>
                  <a:srgbClr val="47564C"/>
                </a:solidFill>
                <a:latin typeface="Calibri" pitchFamily="34" charset="0"/>
                <a:ea typeface="Calibri" pitchFamily="34" charset="-122"/>
                <a:cs typeface="Calibri" pitchFamily="34" charset="-120"/>
              </a:rPr>
              <a:t>Peak 15-minute rainfall burst — the trigger</a:t>
            </a:r>
            <a:endParaRPr lang="en-US" sz="1150" dirty="0"/>
          </a:p>
        </p:txBody>
      </p:sp>
      <p:sp>
        <p:nvSpPr>
          <p:cNvPr id="24" name="Text 18"/>
          <p:cNvSpPr/>
          <p:nvPr/>
        </p:nvSpPr>
        <p:spPr>
          <a:xfrm>
            <a:off x="3611880" y="5221224"/>
            <a:ext cx="2788920" cy="320040"/>
          </a:xfrm>
          <a:prstGeom prst="rect">
            <a:avLst/>
          </a:prstGeom>
          <a:noFill/>
          <a:ln/>
        </p:spPr>
        <p:txBody>
          <a:bodyPr wrap="square" lIns="0" tIns="0" rIns="0" bIns="0" rtlCol="0" anchor="ctr"/>
          <a:lstStyle/>
          <a:p>
            <a:pPr marL="0" indent="0" algn="r">
              <a:buNone/>
            </a:pPr>
            <a:r>
              <a:rPr lang="en-US" sz="1100" i="1" dirty="0">
                <a:solidFill>
                  <a:srgbClr val="2E7D4F"/>
                </a:solidFill>
                <a:latin typeface="Calibri" pitchFamily="34" charset="0"/>
                <a:ea typeface="Calibri" pitchFamily="34" charset="-122"/>
                <a:cs typeface="Calibri" pitchFamily="34" charset="-120"/>
              </a:rPr>
              <a:t>GPM IMERG · WeatherNext</a:t>
            </a:r>
            <a:endParaRPr lang="en-US" sz="1100" dirty="0"/>
          </a:p>
        </p:txBody>
      </p:sp>
      <p:sp>
        <p:nvSpPr>
          <p:cNvPr id="25" name="Shape 19"/>
          <p:cNvSpPr/>
          <p:nvPr/>
        </p:nvSpPr>
        <p:spPr>
          <a:xfrm>
            <a:off x="6766560" y="1783080"/>
            <a:ext cx="4873752" cy="1783080"/>
          </a:xfrm>
          <a:prstGeom prst="roundRect">
            <a:avLst>
              <a:gd name="adj" fmla="val 5641"/>
            </a:avLst>
          </a:prstGeom>
          <a:solidFill>
            <a:srgbClr val="F4F2EC"/>
          </a:solidFill>
          <a:ln/>
        </p:spPr>
      </p:sp>
      <p:sp>
        <p:nvSpPr>
          <p:cNvPr id="26" name="Text 20"/>
          <p:cNvSpPr/>
          <p:nvPr/>
        </p:nvSpPr>
        <p:spPr>
          <a:xfrm>
            <a:off x="7086600" y="1938528"/>
            <a:ext cx="4233672" cy="256032"/>
          </a:xfrm>
          <a:prstGeom prst="rect">
            <a:avLst/>
          </a:prstGeom>
          <a:noFill/>
          <a:ln/>
        </p:spPr>
        <p:txBody>
          <a:bodyPr wrap="square" lIns="0" tIns="0" rIns="0" bIns="0" rtlCol="0" anchor="ctr"/>
          <a:lstStyle/>
          <a:p>
            <a:pPr marL="0" indent="0">
              <a:buNone/>
            </a:pPr>
            <a:r>
              <a:rPr lang="en-US" sz="1050" b="1" kern="0" spc="200" dirty="0">
                <a:solidFill>
                  <a:srgbClr val="C85A28"/>
                </a:solidFill>
                <a:latin typeface="Calibri" pitchFamily="34" charset="0"/>
                <a:ea typeface="Calibri" pitchFamily="34" charset="-122"/>
                <a:cs typeface="Calibri" pitchFamily="34" charset="-120"/>
              </a:rPr>
              <a:t>THE MODEL</a:t>
            </a:r>
            <a:endParaRPr lang="en-US" sz="1050" dirty="0"/>
          </a:p>
        </p:txBody>
      </p:sp>
      <p:sp>
        <p:nvSpPr>
          <p:cNvPr id="27" name="Text 21"/>
          <p:cNvSpPr/>
          <p:nvPr/>
        </p:nvSpPr>
        <p:spPr>
          <a:xfrm>
            <a:off x="7086600" y="2212848"/>
            <a:ext cx="4233672" cy="411480"/>
          </a:xfrm>
          <a:prstGeom prst="rect">
            <a:avLst/>
          </a:prstGeom>
          <a:noFill/>
          <a:ln/>
        </p:spPr>
        <p:txBody>
          <a:bodyPr wrap="square" lIns="0" tIns="0" rIns="0" bIns="0" rtlCol="0" anchor="ctr"/>
          <a:lstStyle/>
          <a:p>
            <a:pPr marL="0" indent="0">
              <a:buNone/>
            </a:pPr>
            <a:r>
              <a:rPr lang="en-US" sz="2000" b="1" dirty="0">
                <a:solidFill>
                  <a:srgbClr val="1B3A29"/>
                </a:solidFill>
                <a:latin typeface="Consolas" pitchFamily="34" charset="0"/>
                <a:ea typeface="Consolas" pitchFamily="34" charset="-122"/>
                <a:cs typeface="Consolas" pitchFamily="34" charset="-120"/>
              </a:rPr>
              <a:t>P  =  eˣ ⁄ (1 + eˣ)</a:t>
            </a:r>
            <a:endParaRPr lang="en-US" sz="2000" dirty="0"/>
          </a:p>
        </p:txBody>
      </p:sp>
      <p:sp>
        <p:nvSpPr>
          <p:cNvPr id="28" name="Text 22"/>
          <p:cNvSpPr/>
          <p:nvPr/>
        </p:nvSpPr>
        <p:spPr>
          <a:xfrm>
            <a:off x="7086600" y="2670048"/>
            <a:ext cx="4233672" cy="365760"/>
          </a:xfrm>
          <a:prstGeom prst="rect">
            <a:avLst/>
          </a:prstGeom>
          <a:noFill/>
          <a:ln/>
        </p:spPr>
        <p:txBody>
          <a:bodyPr wrap="square" lIns="0" tIns="0" rIns="0" bIns="0" rtlCol="0" anchor="ctr"/>
          <a:lstStyle/>
          <a:p>
            <a:pPr marL="0" indent="0">
              <a:buNone/>
            </a:pPr>
            <a:r>
              <a:rPr lang="en-US" sz="1400" dirty="0">
                <a:solidFill>
                  <a:srgbClr val="47564C"/>
                </a:solidFill>
                <a:latin typeface="Consolas" pitchFamily="34" charset="0"/>
                <a:ea typeface="Consolas" pitchFamily="34" charset="-122"/>
                <a:cs typeface="Consolas" pitchFamily="34" charset="-120"/>
              </a:rPr>
              <a:t>x = B + C₁(T·R) + C₂(F·R) + C₃(S·R)</a:t>
            </a:r>
            <a:endParaRPr lang="en-US" sz="1400" dirty="0"/>
          </a:p>
        </p:txBody>
      </p:sp>
      <p:sp>
        <p:nvSpPr>
          <p:cNvPr id="29" name="Text 23"/>
          <p:cNvSpPr/>
          <p:nvPr/>
        </p:nvSpPr>
        <p:spPr>
          <a:xfrm>
            <a:off x="7086600" y="3072384"/>
            <a:ext cx="4233672" cy="411480"/>
          </a:xfrm>
          <a:prstGeom prst="rect">
            <a:avLst/>
          </a:prstGeom>
          <a:noFill/>
          <a:ln/>
        </p:spPr>
        <p:txBody>
          <a:bodyPr wrap="square" lIns="0" tIns="0" rIns="0" bIns="0" rtlCol="0" anchor="t"/>
          <a:lstStyle/>
          <a:p>
            <a:pPr marL="0" indent="0">
              <a:buNone/>
            </a:pPr>
            <a:r>
              <a:rPr lang="en-US" sz="1200" b="1" i="1" dirty="0">
                <a:solidFill>
                  <a:srgbClr val="C85A28"/>
                </a:solidFill>
                <a:latin typeface="Calibri" pitchFamily="34" charset="0"/>
                <a:ea typeface="Calibri" pitchFamily="34" charset="-122"/>
                <a:cs typeface="Calibri" pitchFamily="34" charset="-120"/>
              </a:rPr>
              <a:t>Rain multiplies every term. </a:t>
            </a:r>
            <a:r>
              <a:rPr lang="en-US" sz="1200" i="1" dirty="0">
                <a:solidFill>
                  <a:srgbClr val="47564C"/>
                </a:solidFill>
                <a:latin typeface="Calibri" pitchFamily="34" charset="0"/>
                <a:ea typeface="Calibri" pitchFamily="34" charset="-122"/>
                <a:cs typeface="Calibri" pitchFamily="34" charset="-120"/>
              </a:rPr>
              <a:t>A primed hillside is harmless until the rain comes.</a:t>
            </a:r>
            <a:endParaRPr lang="en-US" sz="1200" dirty="0"/>
          </a:p>
        </p:txBody>
      </p:sp>
      <p:pic>
        <p:nvPicPr>
          <p:cNvPr id="30" name="Image 4" descr="assets/cap_terrain_c.png"/>
          <p:cNvPicPr>
            <a:picLocks noChangeAspect="1"/>
          </p:cNvPicPr>
          <p:nvPr/>
        </p:nvPicPr>
        <p:blipFill>
          <a:blip r:embed="rId7"/>
          <a:stretch>
            <a:fillRect/>
          </a:stretch>
        </p:blipFill>
        <p:spPr>
          <a:xfrm>
            <a:off x="7123176" y="3794760"/>
            <a:ext cx="4160520" cy="2514600"/>
          </a:xfrm>
          <a:prstGeom prst="rect">
            <a:avLst/>
          </a:prstGeom>
          <a:effectLst>
            <a:outerShdw blurRad="165100" dist="38100" dir="5400000" algn="bl" rotWithShape="0">
              <a:srgbClr val="2B3B30">
                <a:alpha val="22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CFCFA"/>
        </a:solidFill>
        <a:effectLst/>
      </p:bgPr>
    </p:bg>
    <p:spTree>
      <p:nvGrpSpPr>
        <p:cNvPr id="1" name=""/>
        <p:cNvGrpSpPr/>
        <p:nvPr/>
      </p:nvGrpSpPr>
      <p:grpSpPr>
        <a:xfrm>
          <a:off x="0" y="0"/>
          <a:ext cx="0" cy="0"/>
          <a:chOff x="0" y="0"/>
          <a:chExt cx="0" cy="0"/>
        </a:xfrm>
      </p:grpSpPr>
      <p:sp>
        <p:nvSpPr>
          <p:cNvPr id="2" name="Text 0"/>
          <p:cNvSpPr/>
          <p:nvPr/>
        </p:nvSpPr>
        <p:spPr>
          <a:xfrm>
            <a:off x="548640" y="502920"/>
            <a:ext cx="10515600" cy="292608"/>
          </a:xfrm>
          <a:prstGeom prst="rect">
            <a:avLst/>
          </a:prstGeom>
          <a:noFill/>
          <a:ln/>
        </p:spPr>
        <p:txBody>
          <a:bodyPr wrap="square" lIns="0" tIns="0" rIns="0" bIns="0" rtlCol="0" anchor="ctr"/>
          <a:lstStyle/>
          <a:p>
            <a:pPr marL="0" indent="0" algn="l">
              <a:buNone/>
            </a:pPr>
            <a:r>
              <a:rPr lang="en-US" sz="1250" b="1" kern="0" spc="300" dirty="0">
                <a:solidFill>
                  <a:srgbClr val="C85A28"/>
                </a:solidFill>
                <a:latin typeface="Calibri" pitchFamily="34" charset="0"/>
                <a:ea typeface="Calibri" pitchFamily="34" charset="-122"/>
                <a:cs typeface="Calibri" pitchFamily="34" charset="-120"/>
              </a:rPr>
              <a:t>THE KEY IDEA</a:t>
            </a:r>
            <a:endParaRPr lang="en-US" sz="1250" dirty="0"/>
          </a:p>
        </p:txBody>
      </p:sp>
      <p:sp>
        <p:nvSpPr>
          <p:cNvPr id="3" name="Text 1"/>
          <p:cNvSpPr/>
          <p:nvPr/>
        </p:nvSpPr>
        <p:spPr>
          <a:xfrm>
            <a:off x="548640" y="868680"/>
            <a:ext cx="10789920" cy="914400"/>
          </a:xfrm>
          <a:prstGeom prst="rect">
            <a:avLst/>
          </a:prstGeom>
          <a:noFill/>
          <a:ln/>
        </p:spPr>
        <p:txBody>
          <a:bodyPr wrap="square" lIns="0" tIns="0" rIns="0" bIns="0" rtlCol="0" anchor="ctr"/>
          <a:lstStyle/>
          <a:p>
            <a:pPr marL="0" indent="0" algn="l">
              <a:lnSpc>
                <a:spcPct val="98000"/>
              </a:lnSpc>
              <a:buNone/>
            </a:pPr>
            <a:r>
              <a:rPr lang="en-US" sz="3400" b="1" dirty="0">
                <a:solidFill>
                  <a:srgbClr val="1B3A29"/>
                </a:solidFill>
                <a:latin typeface="Century Schoolbook" pitchFamily="34" charset="0"/>
                <a:ea typeface="Century Schoolbook" pitchFamily="34" charset="-122"/>
                <a:cs typeface="Century Schoolbook" pitchFamily="34" charset="-120"/>
              </a:rPr>
              <a:t>Occurrence vs. Risk — hazard isn't harm</a:t>
            </a:r>
            <a:endParaRPr lang="en-US" sz="3400" dirty="0"/>
          </a:p>
        </p:txBody>
      </p:sp>
      <p:sp>
        <p:nvSpPr>
          <p:cNvPr id="4" name="Shape 2"/>
          <p:cNvSpPr/>
          <p:nvPr/>
        </p:nvSpPr>
        <p:spPr>
          <a:xfrm>
            <a:off x="548640" y="1783080"/>
            <a:ext cx="3566160" cy="1783080"/>
          </a:xfrm>
          <a:prstGeom prst="roundRect">
            <a:avLst>
              <a:gd name="adj" fmla="val 5641"/>
            </a:avLst>
          </a:prstGeom>
          <a:solidFill>
            <a:srgbClr val="E9F1EA"/>
          </a:solidFill>
          <a:ln/>
        </p:spPr>
      </p:sp>
      <p:sp>
        <p:nvSpPr>
          <p:cNvPr id="5" name="Text 3"/>
          <p:cNvSpPr/>
          <p:nvPr/>
        </p:nvSpPr>
        <p:spPr>
          <a:xfrm>
            <a:off x="841248" y="2002536"/>
            <a:ext cx="3017520" cy="274320"/>
          </a:xfrm>
          <a:prstGeom prst="rect">
            <a:avLst/>
          </a:prstGeom>
          <a:noFill/>
          <a:ln/>
        </p:spPr>
        <p:txBody>
          <a:bodyPr wrap="square" lIns="0" tIns="0" rIns="0" bIns="0" rtlCol="0" anchor="ctr"/>
          <a:lstStyle/>
          <a:p>
            <a:pPr marL="0" indent="0">
              <a:buNone/>
            </a:pPr>
            <a:r>
              <a:rPr lang="en-US" sz="1200" b="1" kern="0" spc="200" dirty="0">
                <a:solidFill>
                  <a:srgbClr val="2E7D4F"/>
                </a:solidFill>
                <a:latin typeface="Calibri" pitchFamily="34" charset="0"/>
                <a:ea typeface="Calibri" pitchFamily="34" charset="-122"/>
                <a:cs typeface="Calibri" pitchFamily="34" charset="-120"/>
              </a:rPr>
              <a:t>OCCURRENCE</a:t>
            </a:r>
            <a:endParaRPr lang="en-US" sz="1200" dirty="0"/>
          </a:p>
        </p:txBody>
      </p:sp>
      <p:sp>
        <p:nvSpPr>
          <p:cNvPr id="6" name="Text 4"/>
          <p:cNvSpPr/>
          <p:nvPr/>
        </p:nvSpPr>
        <p:spPr>
          <a:xfrm>
            <a:off x="841248" y="2295144"/>
            <a:ext cx="3017520" cy="365760"/>
          </a:xfrm>
          <a:prstGeom prst="rect">
            <a:avLst/>
          </a:prstGeom>
          <a:noFill/>
          <a:ln/>
        </p:spPr>
        <p:txBody>
          <a:bodyPr wrap="square" lIns="0" tIns="0" rIns="0" bIns="0" rtlCol="0" anchor="ctr"/>
          <a:lstStyle/>
          <a:p>
            <a:pPr marL="0" indent="0">
              <a:buNone/>
            </a:pPr>
            <a:r>
              <a:rPr lang="en-US" sz="1600" b="1" dirty="0">
                <a:solidFill>
                  <a:srgbClr val="1B3A29"/>
                </a:solidFill>
                <a:latin typeface="Century Schoolbook" pitchFamily="34" charset="0"/>
                <a:ea typeface="Century Schoolbook" pitchFamily="34" charset="-122"/>
                <a:cs typeface="Century Schoolbook" pitchFamily="34" charset="-120"/>
              </a:rPr>
              <a:t>Will a flow happen at all?</a:t>
            </a:r>
            <a:endParaRPr lang="en-US" sz="1600" dirty="0"/>
          </a:p>
        </p:txBody>
      </p:sp>
      <p:sp>
        <p:nvSpPr>
          <p:cNvPr id="7" name="Text 5"/>
          <p:cNvSpPr/>
          <p:nvPr/>
        </p:nvSpPr>
        <p:spPr>
          <a:xfrm>
            <a:off x="841248" y="2697480"/>
            <a:ext cx="3017520" cy="731520"/>
          </a:xfrm>
          <a:prstGeom prst="rect">
            <a:avLst/>
          </a:prstGeom>
          <a:noFill/>
          <a:ln/>
        </p:spPr>
        <p:txBody>
          <a:bodyPr wrap="square" lIns="0" tIns="0" rIns="0" bIns="0" rtlCol="0" anchor="t"/>
          <a:lstStyle/>
          <a:p>
            <a:pPr marL="0" indent="0">
              <a:lnSpc>
                <a:spcPct val="108000"/>
              </a:lnSpc>
              <a:buNone/>
            </a:pPr>
            <a:r>
              <a:rPr lang="en-US" sz="1200" dirty="0">
                <a:solidFill>
                  <a:srgbClr val="47564C"/>
                </a:solidFill>
                <a:latin typeface="Calibri" pitchFamily="34" charset="0"/>
                <a:ea typeface="Calibri" pitchFamily="34" charset="-122"/>
                <a:cs typeface="Calibri" pitchFamily="34" charset="-120"/>
              </a:rPr>
              <a:t>Pure physics from burn + slope + soil + rain. It doesn't care whether anyone lives nearby.</a:t>
            </a:r>
            <a:endParaRPr lang="en-US" sz="1200" dirty="0"/>
          </a:p>
        </p:txBody>
      </p:sp>
      <p:sp>
        <p:nvSpPr>
          <p:cNvPr id="8" name="Shape 6"/>
          <p:cNvSpPr/>
          <p:nvPr/>
        </p:nvSpPr>
        <p:spPr>
          <a:xfrm>
            <a:off x="4434840" y="1783080"/>
            <a:ext cx="7205472" cy="1783080"/>
          </a:xfrm>
          <a:prstGeom prst="roundRect">
            <a:avLst>
              <a:gd name="adj" fmla="val 5641"/>
            </a:avLst>
          </a:prstGeom>
          <a:solidFill>
            <a:srgbClr val="F8E9DE"/>
          </a:solidFill>
          <a:ln/>
        </p:spPr>
      </p:sp>
      <p:sp>
        <p:nvSpPr>
          <p:cNvPr id="9" name="Text 7"/>
          <p:cNvSpPr/>
          <p:nvPr/>
        </p:nvSpPr>
        <p:spPr>
          <a:xfrm>
            <a:off x="4727448" y="2002536"/>
            <a:ext cx="6656832" cy="274320"/>
          </a:xfrm>
          <a:prstGeom prst="rect">
            <a:avLst/>
          </a:prstGeom>
          <a:noFill/>
          <a:ln/>
        </p:spPr>
        <p:txBody>
          <a:bodyPr wrap="square" lIns="0" tIns="0" rIns="0" bIns="0" rtlCol="0" anchor="ctr"/>
          <a:lstStyle/>
          <a:p>
            <a:pPr marL="0" indent="0">
              <a:buNone/>
            </a:pPr>
            <a:r>
              <a:rPr lang="en-US" sz="1200" b="1" kern="0" spc="150" dirty="0">
                <a:solidFill>
                  <a:srgbClr val="C85A28"/>
                </a:solidFill>
                <a:latin typeface="Calibri" pitchFamily="34" charset="0"/>
                <a:ea typeface="Calibri" pitchFamily="34" charset="-122"/>
                <a:cs typeface="Calibri" pitchFamily="34" charset="-120"/>
              </a:rPr>
              <a:t>RISK  =  OCCURRENCE  ×  EXPOSURE</a:t>
            </a:r>
            <a:endParaRPr lang="en-US" sz="1200" dirty="0"/>
          </a:p>
        </p:txBody>
      </p:sp>
      <p:sp>
        <p:nvSpPr>
          <p:cNvPr id="10" name="Text 8"/>
          <p:cNvSpPr/>
          <p:nvPr/>
        </p:nvSpPr>
        <p:spPr>
          <a:xfrm>
            <a:off x="4727448" y="2295144"/>
            <a:ext cx="6656832" cy="365760"/>
          </a:xfrm>
          <a:prstGeom prst="rect">
            <a:avLst/>
          </a:prstGeom>
          <a:noFill/>
          <a:ln/>
        </p:spPr>
        <p:txBody>
          <a:bodyPr wrap="square" lIns="0" tIns="0" rIns="0" bIns="0" rtlCol="0" anchor="ctr"/>
          <a:lstStyle/>
          <a:p>
            <a:pPr marL="0" indent="0">
              <a:buNone/>
            </a:pPr>
            <a:r>
              <a:rPr lang="en-US" sz="1600" b="1" dirty="0">
                <a:solidFill>
                  <a:srgbClr val="1B3A29"/>
                </a:solidFill>
                <a:latin typeface="Century Schoolbook" pitchFamily="34" charset="0"/>
                <a:ea typeface="Century Schoolbook" pitchFamily="34" charset="-122"/>
                <a:cs typeface="Century Schoolbook" pitchFamily="34" charset="-120"/>
              </a:rPr>
              <a:t>Will it hurt something?</a:t>
            </a:r>
            <a:endParaRPr lang="en-US" sz="1600" dirty="0"/>
          </a:p>
        </p:txBody>
      </p:sp>
      <p:sp>
        <p:nvSpPr>
          <p:cNvPr id="11" name="Text 9"/>
          <p:cNvSpPr/>
          <p:nvPr/>
        </p:nvSpPr>
        <p:spPr>
          <a:xfrm>
            <a:off x="4727448" y="2697480"/>
            <a:ext cx="6656832" cy="777240"/>
          </a:xfrm>
          <a:prstGeom prst="rect">
            <a:avLst/>
          </a:prstGeom>
          <a:noFill/>
          <a:ln/>
        </p:spPr>
        <p:txBody>
          <a:bodyPr wrap="square" lIns="0" tIns="0" rIns="0" bIns="0" rtlCol="0" anchor="t"/>
          <a:lstStyle/>
          <a:p>
            <a:pPr marL="0" indent="0">
              <a:lnSpc>
                <a:spcPct val="110000"/>
              </a:lnSpc>
              <a:buNone/>
            </a:pPr>
            <a:r>
              <a:rPr lang="en-US" sz="1250" dirty="0">
                <a:solidFill>
                  <a:srgbClr val="47564C"/>
                </a:solidFill>
                <a:latin typeface="Calibri" pitchFamily="34" charset="0"/>
                <a:ea typeface="Calibri" pitchFamily="34" charset="-122"/>
                <a:cs typeface="Calibri" pitchFamily="34" charset="-120"/>
              </a:rPr>
              <a:t>Occurrence weighted by what's downstream, split into four categories: </a:t>
            </a:r>
            <a:r>
              <a:rPr lang="en-US" sz="1250" b="1" dirty="0">
                <a:solidFill>
                  <a:srgbClr val="1B3A29"/>
                </a:solidFill>
                <a:latin typeface="Calibri" pitchFamily="34" charset="0"/>
                <a:ea typeface="Calibri" pitchFamily="34" charset="-122"/>
                <a:cs typeface="Calibri" pitchFamily="34" charset="-120"/>
              </a:rPr>
              <a:t>People &amp; property · Roads &amp; facilities · Waterways &amp; ecosystem · Farmland.</a:t>
            </a:r>
            <a:endParaRPr lang="en-US" sz="1250" dirty="0"/>
          </a:p>
        </p:txBody>
      </p:sp>
      <p:sp>
        <p:nvSpPr>
          <p:cNvPr id="12" name="Shape 10"/>
          <p:cNvSpPr/>
          <p:nvPr/>
        </p:nvSpPr>
        <p:spPr>
          <a:xfrm>
            <a:off x="1407863" y="3840480"/>
            <a:ext cx="5253070" cy="1965960"/>
          </a:xfrm>
          <a:prstGeom prst="roundRect">
            <a:avLst>
              <a:gd name="adj" fmla="val 5116"/>
            </a:avLst>
          </a:prstGeom>
          <a:solidFill>
            <a:srgbClr val="F4F2EC"/>
          </a:solidFill>
          <a:ln/>
        </p:spPr>
      </p:sp>
      <p:sp>
        <p:nvSpPr>
          <p:cNvPr id="13" name="Text 11"/>
          <p:cNvSpPr/>
          <p:nvPr/>
        </p:nvSpPr>
        <p:spPr>
          <a:xfrm>
            <a:off x="1682183" y="4041648"/>
            <a:ext cx="2011680" cy="365760"/>
          </a:xfrm>
          <a:prstGeom prst="rect">
            <a:avLst/>
          </a:prstGeom>
          <a:noFill/>
          <a:ln/>
        </p:spPr>
        <p:txBody>
          <a:bodyPr wrap="square" lIns="0" tIns="0" rIns="0" bIns="0" rtlCol="0" anchor="t"/>
          <a:lstStyle/>
          <a:p>
            <a:pPr marL="0" indent="0">
              <a:lnSpc>
                <a:spcPct val="95000"/>
              </a:lnSpc>
              <a:buNone/>
            </a:pPr>
            <a:endParaRPr lang="en-US" sz="1050" dirty="0"/>
          </a:p>
        </p:txBody>
      </p:sp>
      <p:sp>
        <p:nvSpPr>
          <p:cNvPr id="14" name="Text 12"/>
          <p:cNvSpPr/>
          <p:nvPr/>
        </p:nvSpPr>
        <p:spPr>
          <a:xfrm>
            <a:off x="3739583" y="4041648"/>
            <a:ext cx="1600200" cy="365760"/>
          </a:xfrm>
          <a:prstGeom prst="rect">
            <a:avLst/>
          </a:prstGeom>
          <a:noFill/>
          <a:ln/>
        </p:spPr>
        <p:txBody>
          <a:bodyPr wrap="square" lIns="0" tIns="0" rIns="0" bIns="0" rtlCol="0" anchor="t"/>
          <a:lstStyle/>
          <a:p>
            <a:pPr marL="0" indent="0">
              <a:lnSpc>
                <a:spcPct val="95000"/>
              </a:lnSpc>
              <a:buNone/>
            </a:pPr>
            <a:r>
              <a:rPr lang="en-US" sz="1050" b="1" dirty="0">
                <a:solidFill>
                  <a:srgbClr val="94A096"/>
                </a:solidFill>
                <a:latin typeface="Calibri" pitchFamily="34" charset="0"/>
                <a:ea typeface="Calibri" pitchFamily="34" charset="-122"/>
                <a:cs typeface="Calibri" pitchFamily="34" charset="-120"/>
              </a:rPr>
              <a:t>Occurrence (hazard)</a:t>
            </a:r>
            <a:endParaRPr lang="en-US" sz="1050" dirty="0"/>
          </a:p>
        </p:txBody>
      </p:sp>
      <p:sp>
        <p:nvSpPr>
          <p:cNvPr id="15" name="Text 13"/>
          <p:cNvSpPr/>
          <p:nvPr/>
        </p:nvSpPr>
        <p:spPr>
          <a:xfrm>
            <a:off x="5385503" y="4041648"/>
            <a:ext cx="1463040" cy="365760"/>
          </a:xfrm>
          <a:prstGeom prst="rect">
            <a:avLst/>
          </a:prstGeom>
          <a:noFill/>
          <a:ln/>
        </p:spPr>
        <p:txBody>
          <a:bodyPr wrap="square" lIns="0" tIns="0" rIns="0" bIns="0" rtlCol="0" anchor="t"/>
          <a:lstStyle/>
          <a:p>
            <a:pPr marL="0" indent="0">
              <a:lnSpc>
                <a:spcPct val="95000"/>
              </a:lnSpc>
              <a:buNone/>
            </a:pPr>
            <a:r>
              <a:rPr lang="en-US" sz="1050" b="1" dirty="0">
                <a:solidFill>
                  <a:srgbClr val="94A096"/>
                </a:solidFill>
                <a:latin typeface="Calibri" pitchFamily="34" charset="0"/>
                <a:ea typeface="Calibri" pitchFamily="34" charset="-122"/>
                <a:cs typeface="Calibri" pitchFamily="34" charset="-120"/>
              </a:rPr>
              <a:t>Risk to people</a:t>
            </a:r>
            <a:endParaRPr lang="en-US" sz="1050" dirty="0"/>
          </a:p>
        </p:txBody>
      </p:sp>
      <p:sp>
        <p:nvSpPr>
          <p:cNvPr id="17" name="Text 15"/>
          <p:cNvSpPr/>
          <p:nvPr/>
        </p:nvSpPr>
        <p:spPr>
          <a:xfrm>
            <a:off x="1682183" y="4553712"/>
            <a:ext cx="2011680" cy="548640"/>
          </a:xfrm>
          <a:prstGeom prst="rect">
            <a:avLst/>
          </a:prstGeom>
          <a:noFill/>
          <a:ln/>
        </p:spPr>
        <p:txBody>
          <a:bodyPr wrap="square" lIns="0" tIns="0" rIns="0" bIns="0" rtlCol="0" anchor="t"/>
          <a:lstStyle/>
          <a:p>
            <a:pPr marL="0" indent="0">
              <a:lnSpc>
                <a:spcPct val="100000"/>
              </a:lnSpc>
              <a:buNone/>
            </a:pPr>
            <a:r>
              <a:rPr lang="en-US" sz="1400" b="1" dirty="0">
                <a:solidFill>
                  <a:srgbClr val="1B3A29"/>
                </a:solidFill>
                <a:latin typeface="Century Schoolbook" pitchFamily="34" charset="0"/>
                <a:ea typeface="Century Schoolbook" pitchFamily="34" charset="-122"/>
                <a:cs typeface="Century Schoolbook" pitchFamily="34" charset="-120"/>
              </a:rPr>
              <a:t>Montecito
</a:t>
            </a:r>
            <a:r>
              <a:rPr lang="en-US" sz="1000" i="1" dirty="0">
                <a:solidFill>
                  <a:srgbClr val="94A096"/>
                </a:solidFill>
                <a:latin typeface="Century Schoolbook" pitchFamily="34" charset="0"/>
                <a:ea typeface="Century Schoolbook" pitchFamily="34" charset="-122"/>
                <a:cs typeface="Century Schoolbook" pitchFamily="34" charset="-120"/>
              </a:rPr>
              <a:t>dense town below</a:t>
            </a:r>
            <a:endParaRPr lang="en-US" sz="1400" dirty="0"/>
          </a:p>
        </p:txBody>
      </p:sp>
      <p:sp>
        <p:nvSpPr>
          <p:cNvPr id="18" name="Text 16"/>
          <p:cNvSpPr/>
          <p:nvPr/>
        </p:nvSpPr>
        <p:spPr>
          <a:xfrm>
            <a:off x="3739583" y="4599432"/>
            <a:ext cx="1600200" cy="365760"/>
          </a:xfrm>
          <a:prstGeom prst="rect">
            <a:avLst/>
          </a:prstGeom>
          <a:noFill/>
          <a:ln/>
        </p:spPr>
        <p:txBody>
          <a:bodyPr wrap="square" lIns="0" tIns="0" rIns="0" bIns="0" rtlCol="0" anchor="ctr"/>
          <a:lstStyle/>
          <a:p>
            <a:pPr marL="0" indent="0">
              <a:buNone/>
            </a:pPr>
            <a:r>
              <a:rPr lang="en-US" sz="1300" dirty="0">
                <a:solidFill>
                  <a:srgbClr val="47564C"/>
                </a:solidFill>
                <a:latin typeface="Calibri" pitchFamily="34" charset="0"/>
                <a:ea typeface="Calibri" pitchFamily="34" charset="-122"/>
                <a:cs typeface="Calibri" pitchFamily="34" charset="-120"/>
              </a:rPr>
              <a:t>~ high</a:t>
            </a:r>
            <a:endParaRPr lang="en-US" sz="1300" dirty="0"/>
          </a:p>
        </p:txBody>
      </p:sp>
      <p:sp>
        <p:nvSpPr>
          <p:cNvPr id="19" name="Text 17"/>
          <p:cNvSpPr/>
          <p:nvPr/>
        </p:nvSpPr>
        <p:spPr>
          <a:xfrm>
            <a:off x="5385503" y="4599432"/>
            <a:ext cx="1463040" cy="365760"/>
          </a:xfrm>
          <a:prstGeom prst="rect">
            <a:avLst/>
          </a:prstGeom>
          <a:noFill/>
          <a:ln/>
        </p:spPr>
        <p:txBody>
          <a:bodyPr wrap="square" lIns="0" tIns="0" rIns="0" bIns="0" rtlCol="0" anchor="ctr"/>
          <a:lstStyle/>
          <a:p>
            <a:pPr marL="0" indent="0">
              <a:buNone/>
            </a:pPr>
            <a:r>
              <a:rPr lang="en-US" sz="1300" b="1" dirty="0">
                <a:solidFill>
                  <a:srgbClr val="C85A28"/>
                </a:solidFill>
                <a:latin typeface="Calibri" pitchFamily="34" charset="0"/>
                <a:ea typeface="Calibri" pitchFamily="34" charset="-122"/>
                <a:cs typeface="Calibri" pitchFamily="34" charset="-120"/>
              </a:rPr>
              <a:t>VERY HIGH</a:t>
            </a:r>
            <a:endParaRPr lang="en-US" sz="1300" dirty="0"/>
          </a:p>
        </p:txBody>
      </p:sp>
      <p:sp>
        <p:nvSpPr>
          <p:cNvPr id="21" name="Text 19"/>
          <p:cNvSpPr/>
          <p:nvPr/>
        </p:nvSpPr>
        <p:spPr>
          <a:xfrm>
            <a:off x="1682183" y="5175504"/>
            <a:ext cx="2011680" cy="548640"/>
          </a:xfrm>
          <a:prstGeom prst="rect">
            <a:avLst/>
          </a:prstGeom>
          <a:noFill/>
          <a:ln/>
        </p:spPr>
        <p:txBody>
          <a:bodyPr wrap="square" lIns="0" tIns="0" rIns="0" bIns="0" rtlCol="0" anchor="t"/>
          <a:lstStyle/>
          <a:p>
            <a:pPr marL="0" indent="0">
              <a:lnSpc>
                <a:spcPct val="100000"/>
              </a:lnSpc>
              <a:buNone/>
            </a:pPr>
            <a:r>
              <a:rPr lang="en-US" sz="1400" b="1" dirty="0">
                <a:solidFill>
                  <a:srgbClr val="1B3A29"/>
                </a:solidFill>
                <a:latin typeface="Century Schoolbook" pitchFamily="34" charset="0"/>
                <a:ea typeface="Century Schoolbook" pitchFamily="34" charset="-122"/>
                <a:cs typeface="Century Schoolbook" pitchFamily="34" charset="-120"/>
              </a:rPr>
              <a:t>Grizzly Creek
</a:t>
            </a:r>
            <a:r>
              <a:rPr lang="en-US" sz="1000" i="1" dirty="0">
                <a:solidFill>
                  <a:srgbClr val="94A096"/>
                </a:solidFill>
                <a:latin typeface="Century Schoolbook" pitchFamily="34" charset="0"/>
                <a:ea typeface="Century Schoolbook" pitchFamily="34" charset="-122"/>
                <a:cs typeface="Century Schoolbook" pitchFamily="34" charset="-120"/>
              </a:rPr>
              <a:t>remote canyon</a:t>
            </a:r>
            <a:endParaRPr lang="en-US" sz="1400" dirty="0"/>
          </a:p>
        </p:txBody>
      </p:sp>
      <p:sp>
        <p:nvSpPr>
          <p:cNvPr id="22" name="Text 20"/>
          <p:cNvSpPr/>
          <p:nvPr/>
        </p:nvSpPr>
        <p:spPr>
          <a:xfrm>
            <a:off x="3739583" y="5221224"/>
            <a:ext cx="1600200" cy="365760"/>
          </a:xfrm>
          <a:prstGeom prst="rect">
            <a:avLst/>
          </a:prstGeom>
          <a:noFill/>
          <a:ln/>
        </p:spPr>
        <p:txBody>
          <a:bodyPr wrap="square" lIns="0" tIns="0" rIns="0" bIns="0" rtlCol="0" anchor="ctr"/>
          <a:lstStyle/>
          <a:p>
            <a:pPr marL="0" indent="0">
              <a:buNone/>
            </a:pPr>
            <a:r>
              <a:rPr lang="en-US" sz="1300" dirty="0">
                <a:solidFill>
                  <a:srgbClr val="47564C"/>
                </a:solidFill>
                <a:latin typeface="Calibri" pitchFamily="34" charset="0"/>
                <a:ea typeface="Calibri" pitchFamily="34" charset="-122"/>
                <a:cs typeface="Calibri" pitchFamily="34" charset="-120"/>
              </a:rPr>
              <a:t>~ high</a:t>
            </a:r>
            <a:endParaRPr lang="en-US" sz="1300" dirty="0"/>
          </a:p>
        </p:txBody>
      </p:sp>
      <p:sp>
        <p:nvSpPr>
          <p:cNvPr id="23" name="Text 21"/>
          <p:cNvSpPr/>
          <p:nvPr/>
        </p:nvSpPr>
        <p:spPr>
          <a:xfrm>
            <a:off x="5385503" y="5221224"/>
            <a:ext cx="1463040" cy="365760"/>
          </a:xfrm>
          <a:prstGeom prst="rect">
            <a:avLst/>
          </a:prstGeom>
          <a:noFill/>
          <a:ln/>
        </p:spPr>
        <p:txBody>
          <a:bodyPr wrap="square" lIns="0" tIns="0" rIns="0" bIns="0" rtlCol="0" anchor="ctr"/>
          <a:lstStyle/>
          <a:p>
            <a:pPr marL="0" indent="0">
              <a:buNone/>
            </a:pPr>
            <a:r>
              <a:rPr lang="en-US" sz="1300" b="1" dirty="0">
                <a:solidFill>
                  <a:srgbClr val="2E7D4F"/>
                </a:solidFill>
                <a:latin typeface="Calibri" pitchFamily="34" charset="0"/>
                <a:ea typeface="Calibri" pitchFamily="34" charset="-122"/>
                <a:cs typeface="Calibri" pitchFamily="34" charset="-120"/>
              </a:rPr>
              <a:t>near zero</a:t>
            </a:r>
            <a:endParaRPr lang="en-US" sz="1300" dirty="0"/>
          </a:p>
        </p:txBody>
      </p:sp>
      <p:pic>
        <p:nvPicPr>
          <p:cNvPr id="25" name="Image 0" descr="assets/cap_roads_c.png"/>
          <p:cNvPicPr>
            <a:picLocks noChangeAspect="1"/>
          </p:cNvPicPr>
          <p:nvPr/>
        </p:nvPicPr>
        <p:blipFill>
          <a:blip r:embed="rId3"/>
          <a:stretch>
            <a:fillRect/>
          </a:stretch>
        </p:blipFill>
        <p:spPr>
          <a:xfrm>
            <a:off x="8001000" y="3840480"/>
            <a:ext cx="3291840" cy="1883664"/>
          </a:xfrm>
          <a:prstGeom prst="rect">
            <a:avLst/>
          </a:prstGeom>
          <a:effectLst>
            <a:outerShdw blurRad="165100" dist="38100" dir="5400000" algn="bl" rotWithShape="0">
              <a:srgbClr val="2B3B30">
                <a:alpha val="22000"/>
              </a:srgbClr>
            </a:outerShdw>
          </a:effectLst>
        </p:spPr>
      </p:pic>
      <p:sp>
        <p:nvSpPr>
          <p:cNvPr id="26" name="Text 23"/>
          <p:cNvSpPr/>
          <p:nvPr/>
        </p:nvSpPr>
        <p:spPr>
          <a:xfrm>
            <a:off x="7772400" y="5870448"/>
            <a:ext cx="3794760" cy="502920"/>
          </a:xfrm>
          <a:prstGeom prst="rect">
            <a:avLst/>
          </a:prstGeom>
          <a:noFill/>
          <a:ln/>
        </p:spPr>
        <p:txBody>
          <a:bodyPr wrap="square" lIns="0" tIns="0" rIns="0" bIns="0" rtlCol="0" anchor="t"/>
          <a:lstStyle/>
          <a:p>
            <a:pPr marL="0" indent="0">
              <a:lnSpc>
                <a:spcPct val="106000"/>
              </a:lnSpc>
              <a:buNone/>
            </a:pPr>
            <a:r>
              <a:rPr lang="en-US" sz="1100" b="1" dirty="0">
                <a:solidFill>
                  <a:srgbClr val="C85A28"/>
                </a:solidFill>
                <a:latin typeface="Calibri" pitchFamily="34" charset="0"/>
                <a:ea typeface="Calibri" pitchFamily="34" charset="-122"/>
                <a:cs typeface="Calibri" pitchFamily="34" charset="-120"/>
              </a:rPr>
              <a:t>Same physical hazard, opposite consequences. </a:t>
            </a:r>
            <a:r>
              <a:rPr lang="en-US" sz="1100" dirty="0">
                <a:solidFill>
                  <a:srgbClr val="47564C"/>
                </a:solidFill>
                <a:latin typeface="Calibri" pitchFamily="34" charset="0"/>
                <a:ea typeface="Calibri" pitchFamily="34" charset="-122"/>
                <a:cs typeface="Calibri" pitchFamily="34" charset="-120"/>
              </a:rPr>
              <a:t>Alluvion separates the two — so attention can go where lives, water and land are actually at stake.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CFCFA"/>
        </a:solidFill>
        <a:effectLst/>
      </p:bgPr>
    </p:bg>
    <p:spTree>
      <p:nvGrpSpPr>
        <p:cNvPr id="1" name=""/>
        <p:cNvGrpSpPr/>
        <p:nvPr/>
      </p:nvGrpSpPr>
      <p:grpSpPr>
        <a:xfrm>
          <a:off x="0" y="0"/>
          <a:ext cx="0" cy="0"/>
          <a:chOff x="0" y="0"/>
          <a:chExt cx="0" cy="0"/>
        </a:xfrm>
      </p:grpSpPr>
      <p:sp>
        <p:nvSpPr>
          <p:cNvPr id="2" name="Text 0"/>
          <p:cNvSpPr/>
          <p:nvPr/>
        </p:nvSpPr>
        <p:spPr>
          <a:xfrm>
            <a:off x="548640" y="502920"/>
            <a:ext cx="10515600" cy="292608"/>
          </a:xfrm>
          <a:prstGeom prst="rect">
            <a:avLst/>
          </a:prstGeom>
          <a:noFill/>
          <a:ln/>
        </p:spPr>
        <p:txBody>
          <a:bodyPr wrap="square" lIns="0" tIns="0" rIns="0" bIns="0" rtlCol="0" anchor="ctr"/>
          <a:lstStyle/>
          <a:p>
            <a:pPr marL="0" indent="0" algn="l">
              <a:buNone/>
            </a:pPr>
            <a:r>
              <a:rPr lang="en-US" sz="1250" b="1" kern="0" spc="300" dirty="0">
                <a:solidFill>
                  <a:srgbClr val="C85A28"/>
                </a:solidFill>
                <a:latin typeface="Calibri" pitchFamily="34" charset="0"/>
                <a:ea typeface="Calibri" pitchFamily="34" charset="-122"/>
                <a:cs typeface="Calibri" pitchFamily="34" charset="-120"/>
              </a:rPr>
              <a:t>THE AGENTIC WORKFLOW</a:t>
            </a:r>
            <a:endParaRPr lang="en-US" sz="1250" dirty="0"/>
          </a:p>
        </p:txBody>
      </p:sp>
      <p:sp>
        <p:nvSpPr>
          <p:cNvPr id="3" name="Text 1"/>
          <p:cNvSpPr/>
          <p:nvPr/>
        </p:nvSpPr>
        <p:spPr>
          <a:xfrm>
            <a:off x="548640" y="868680"/>
            <a:ext cx="10789920" cy="914400"/>
          </a:xfrm>
          <a:prstGeom prst="rect">
            <a:avLst/>
          </a:prstGeom>
          <a:noFill/>
          <a:ln/>
        </p:spPr>
        <p:txBody>
          <a:bodyPr wrap="square" lIns="0" tIns="0" rIns="0" bIns="0" rtlCol="0" anchor="ctr"/>
          <a:lstStyle/>
          <a:p>
            <a:pPr marL="0" indent="0" algn="l">
              <a:lnSpc>
                <a:spcPct val="98000"/>
              </a:lnSpc>
              <a:buNone/>
            </a:pPr>
            <a:r>
              <a:rPr lang="en-US" sz="3400" b="1" dirty="0">
                <a:solidFill>
                  <a:srgbClr val="1B3A29"/>
                </a:solidFill>
                <a:latin typeface="Century Schoolbook" pitchFamily="34" charset="0"/>
                <a:ea typeface="Century Schoolbook" pitchFamily="34" charset="-122"/>
                <a:cs typeface="Century Schoolbook" pitchFamily="34" charset="-120"/>
              </a:rPr>
              <a:t>A watchman that runs the loop itself</a:t>
            </a:r>
            <a:endParaRPr lang="en-US" sz="3400" dirty="0"/>
          </a:p>
        </p:txBody>
      </p:sp>
      <p:sp>
        <p:nvSpPr>
          <p:cNvPr id="4" name="Shape 2"/>
          <p:cNvSpPr/>
          <p:nvPr/>
        </p:nvSpPr>
        <p:spPr>
          <a:xfrm>
            <a:off x="548640" y="1965960"/>
            <a:ext cx="2042770" cy="2286000"/>
          </a:xfrm>
          <a:prstGeom prst="roundRect">
            <a:avLst>
              <a:gd name="adj" fmla="val 4924"/>
            </a:avLst>
          </a:prstGeom>
          <a:solidFill>
            <a:srgbClr val="F4F2EC"/>
          </a:solidFill>
          <a:ln/>
        </p:spPr>
      </p:sp>
      <p:sp>
        <p:nvSpPr>
          <p:cNvPr id="5" name="Shape 3"/>
          <p:cNvSpPr/>
          <p:nvPr/>
        </p:nvSpPr>
        <p:spPr>
          <a:xfrm>
            <a:off x="1240841" y="2240280"/>
            <a:ext cx="658368" cy="658368"/>
          </a:xfrm>
          <a:prstGeom prst="ellipse">
            <a:avLst/>
          </a:prstGeom>
          <a:solidFill>
            <a:srgbClr val="C85A28"/>
          </a:solidFill>
          <a:ln/>
        </p:spPr>
      </p:sp>
      <p:pic>
        <p:nvPicPr>
          <p:cNvPr id="6" name="Image 0" descr="assets/ic_satellite_F0E8D7.png"/>
          <p:cNvPicPr>
            <a:picLocks noChangeAspect="1"/>
          </p:cNvPicPr>
          <p:nvPr/>
        </p:nvPicPr>
        <p:blipFill>
          <a:blip r:embed="rId3"/>
          <a:stretch>
            <a:fillRect/>
          </a:stretch>
        </p:blipFill>
        <p:spPr>
          <a:xfrm>
            <a:off x="1398849" y="2398288"/>
            <a:ext cx="342351" cy="342351"/>
          </a:xfrm>
          <a:prstGeom prst="rect">
            <a:avLst/>
          </a:prstGeom>
        </p:spPr>
      </p:pic>
      <p:sp>
        <p:nvSpPr>
          <p:cNvPr id="7" name="Text 4"/>
          <p:cNvSpPr/>
          <p:nvPr/>
        </p:nvSpPr>
        <p:spPr>
          <a:xfrm>
            <a:off x="640080" y="2990088"/>
            <a:ext cx="1859890" cy="274320"/>
          </a:xfrm>
          <a:prstGeom prst="rect">
            <a:avLst/>
          </a:prstGeom>
          <a:noFill/>
          <a:ln/>
        </p:spPr>
        <p:txBody>
          <a:bodyPr wrap="square" lIns="0" tIns="0" rIns="0" bIns="0" rtlCol="0" anchor="ctr"/>
          <a:lstStyle/>
          <a:p>
            <a:pPr marL="0" indent="0" algn="ctr">
              <a:buNone/>
            </a:pPr>
            <a:r>
              <a:rPr lang="en-US" sz="1150" b="1" kern="0" spc="150" dirty="0">
                <a:solidFill>
                  <a:srgbClr val="C85A28"/>
                </a:solidFill>
                <a:latin typeface="Calibri" pitchFamily="34" charset="0"/>
                <a:ea typeface="Calibri" pitchFamily="34" charset="-122"/>
                <a:cs typeface="Calibri" pitchFamily="34" charset="-120"/>
              </a:rPr>
              <a:t>PERCEIVE</a:t>
            </a:r>
            <a:endParaRPr lang="en-US" sz="1150" dirty="0"/>
          </a:p>
        </p:txBody>
      </p:sp>
      <p:sp>
        <p:nvSpPr>
          <p:cNvPr id="8" name="Text 5"/>
          <p:cNvSpPr/>
          <p:nvPr/>
        </p:nvSpPr>
        <p:spPr>
          <a:xfrm>
            <a:off x="694944" y="3291840"/>
            <a:ext cx="1750162" cy="914400"/>
          </a:xfrm>
          <a:prstGeom prst="rect">
            <a:avLst/>
          </a:prstGeom>
          <a:noFill/>
          <a:ln/>
        </p:spPr>
        <p:txBody>
          <a:bodyPr wrap="square" lIns="0" tIns="0" rIns="0" bIns="0" rtlCol="0" anchor="t"/>
          <a:lstStyle/>
          <a:p>
            <a:pPr marL="0" indent="0" algn="ctr">
              <a:lnSpc>
                <a:spcPct val="106000"/>
              </a:lnSpc>
              <a:buNone/>
            </a:pPr>
            <a:r>
              <a:rPr lang="en-US" sz="1150" dirty="0">
                <a:solidFill>
                  <a:srgbClr val="47564C"/>
                </a:solidFill>
                <a:latin typeface="Calibri" pitchFamily="34" charset="0"/>
                <a:ea typeface="Calibri" pitchFamily="34" charset="-122"/>
                <a:cs typeface="Calibri" pitchFamily="34" charset="-120"/>
              </a:rPr>
              <a:t>Detect fires &amp; burn scars from satellite imagery.</a:t>
            </a:r>
            <a:endParaRPr lang="en-US" sz="1150" dirty="0"/>
          </a:p>
        </p:txBody>
      </p:sp>
      <p:sp>
        <p:nvSpPr>
          <p:cNvPr id="9" name="Text 6"/>
          <p:cNvSpPr/>
          <p:nvPr/>
        </p:nvSpPr>
        <p:spPr>
          <a:xfrm>
            <a:off x="2536546" y="2286000"/>
            <a:ext cx="329184" cy="457200"/>
          </a:xfrm>
          <a:prstGeom prst="rect">
            <a:avLst/>
          </a:prstGeom>
          <a:noFill/>
          <a:ln/>
        </p:spPr>
        <p:txBody>
          <a:bodyPr wrap="square" lIns="0" tIns="0" rIns="0" bIns="0" rtlCol="0" anchor="ctr"/>
          <a:lstStyle/>
          <a:p>
            <a:pPr marL="0" indent="0" algn="ctr">
              <a:buNone/>
            </a:pPr>
            <a:r>
              <a:rPr lang="en-US" sz="2600" b="1" dirty="0">
                <a:solidFill>
                  <a:srgbClr val="C85A28"/>
                </a:solidFill>
                <a:latin typeface="Calibri" pitchFamily="34" charset="0"/>
                <a:ea typeface="Calibri" pitchFamily="34" charset="-122"/>
                <a:cs typeface="Calibri" pitchFamily="34" charset="-120"/>
              </a:rPr>
              <a:t>›</a:t>
            </a:r>
            <a:endParaRPr lang="en-US" sz="2600" dirty="0"/>
          </a:p>
        </p:txBody>
      </p:sp>
      <p:sp>
        <p:nvSpPr>
          <p:cNvPr id="10" name="Shape 7"/>
          <p:cNvSpPr/>
          <p:nvPr/>
        </p:nvSpPr>
        <p:spPr>
          <a:xfrm>
            <a:off x="2810866" y="1965960"/>
            <a:ext cx="2042770" cy="2286000"/>
          </a:xfrm>
          <a:prstGeom prst="roundRect">
            <a:avLst>
              <a:gd name="adj" fmla="val 4924"/>
            </a:avLst>
          </a:prstGeom>
          <a:solidFill>
            <a:srgbClr val="F4F2EC"/>
          </a:solidFill>
          <a:ln/>
        </p:spPr>
      </p:sp>
      <p:sp>
        <p:nvSpPr>
          <p:cNvPr id="11" name="Shape 8"/>
          <p:cNvSpPr/>
          <p:nvPr/>
        </p:nvSpPr>
        <p:spPr>
          <a:xfrm>
            <a:off x="3503066" y="2240280"/>
            <a:ext cx="658368" cy="658368"/>
          </a:xfrm>
          <a:prstGeom prst="ellipse">
            <a:avLst/>
          </a:prstGeom>
          <a:solidFill>
            <a:srgbClr val="C85A28"/>
          </a:solidFill>
          <a:ln/>
        </p:spPr>
      </p:sp>
      <p:pic>
        <p:nvPicPr>
          <p:cNvPr id="12" name="Image 1" descr="assets/ic_magnify_F0E8D7.png"/>
          <p:cNvPicPr>
            <a:picLocks noChangeAspect="1"/>
          </p:cNvPicPr>
          <p:nvPr/>
        </p:nvPicPr>
        <p:blipFill>
          <a:blip r:embed="rId4"/>
          <a:stretch>
            <a:fillRect/>
          </a:stretch>
        </p:blipFill>
        <p:spPr>
          <a:xfrm>
            <a:off x="3661075" y="2398288"/>
            <a:ext cx="342351" cy="342351"/>
          </a:xfrm>
          <a:prstGeom prst="rect">
            <a:avLst/>
          </a:prstGeom>
        </p:spPr>
      </p:pic>
      <p:sp>
        <p:nvSpPr>
          <p:cNvPr id="13" name="Text 9"/>
          <p:cNvSpPr/>
          <p:nvPr/>
        </p:nvSpPr>
        <p:spPr>
          <a:xfrm>
            <a:off x="2902306" y="2990088"/>
            <a:ext cx="1859890" cy="274320"/>
          </a:xfrm>
          <a:prstGeom prst="rect">
            <a:avLst/>
          </a:prstGeom>
          <a:noFill/>
          <a:ln/>
        </p:spPr>
        <p:txBody>
          <a:bodyPr wrap="square" lIns="0" tIns="0" rIns="0" bIns="0" rtlCol="0" anchor="ctr"/>
          <a:lstStyle/>
          <a:p>
            <a:pPr marL="0" indent="0" algn="ctr">
              <a:buNone/>
            </a:pPr>
            <a:r>
              <a:rPr lang="en-US" sz="1150" b="1" kern="0" spc="150" dirty="0">
                <a:solidFill>
                  <a:srgbClr val="C85A28"/>
                </a:solidFill>
                <a:latin typeface="Calibri" pitchFamily="34" charset="0"/>
                <a:ea typeface="Calibri" pitchFamily="34" charset="-122"/>
                <a:cs typeface="Calibri" pitchFamily="34" charset="-120"/>
              </a:rPr>
              <a:t>ASSESS</a:t>
            </a:r>
            <a:endParaRPr lang="en-US" sz="1150" dirty="0"/>
          </a:p>
        </p:txBody>
      </p:sp>
      <p:sp>
        <p:nvSpPr>
          <p:cNvPr id="14" name="Text 10"/>
          <p:cNvSpPr/>
          <p:nvPr/>
        </p:nvSpPr>
        <p:spPr>
          <a:xfrm>
            <a:off x="2957170" y="3291840"/>
            <a:ext cx="1750162" cy="914400"/>
          </a:xfrm>
          <a:prstGeom prst="rect">
            <a:avLst/>
          </a:prstGeom>
          <a:noFill/>
          <a:ln/>
        </p:spPr>
        <p:txBody>
          <a:bodyPr wrap="square" lIns="0" tIns="0" rIns="0" bIns="0" rtlCol="0" anchor="t"/>
          <a:lstStyle/>
          <a:p>
            <a:pPr marL="0" indent="0" algn="ctr">
              <a:lnSpc>
                <a:spcPct val="106000"/>
              </a:lnSpc>
              <a:buNone/>
            </a:pPr>
            <a:r>
              <a:rPr lang="en-US" sz="1150" dirty="0">
                <a:solidFill>
                  <a:srgbClr val="47564C"/>
                </a:solidFill>
                <a:latin typeface="Calibri" pitchFamily="34" charset="0"/>
                <a:ea typeface="Calibri" pitchFamily="34" charset="-122"/>
                <a:cs typeface="Calibri" pitchFamily="34" charset="-120"/>
              </a:rPr>
              <a:t>Physics + downstream exposure → occurrence &amp; risk.</a:t>
            </a:r>
            <a:endParaRPr lang="en-US" sz="1150" dirty="0"/>
          </a:p>
        </p:txBody>
      </p:sp>
      <p:sp>
        <p:nvSpPr>
          <p:cNvPr id="15" name="Text 11"/>
          <p:cNvSpPr/>
          <p:nvPr/>
        </p:nvSpPr>
        <p:spPr>
          <a:xfrm>
            <a:off x="4798771" y="2286000"/>
            <a:ext cx="329184" cy="457200"/>
          </a:xfrm>
          <a:prstGeom prst="rect">
            <a:avLst/>
          </a:prstGeom>
          <a:noFill/>
          <a:ln/>
        </p:spPr>
        <p:txBody>
          <a:bodyPr wrap="square" lIns="0" tIns="0" rIns="0" bIns="0" rtlCol="0" anchor="ctr"/>
          <a:lstStyle/>
          <a:p>
            <a:pPr marL="0" indent="0" algn="ctr">
              <a:buNone/>
            </a:pPr>
            <a:r>
              <a:rPr lang="en-US" sz="2600" b="1" dirty="0">
                <a:solidFill>
                  <a:srgbClr val="C85A28"/>
                </a:solidFill>
                <a:latin typeface="Calibri" pitchFamily="34" charset="0"/>
                <a:ea typeface="Calibri" pitchFamily="34" charset="-122"/>
                <a:cs typeface="Calibri" pitchFamily="34" charset="-120"/>
              </a:rPr>
              <a:t>›</a:t>
            </a:r>
            <a:endParaRPr lang="en-US" sz="2600" dirty="0"/>
          </a:p>
        </p:txBody>
      </p:sp>
      <p:sp>
        <p:nvSpPr>
          <p:cNvPr id="16" name="Shape 12"/>
          <p:cNvSpPr/>
          <p:nvPr/>
        </p:nvSpPr>
        <p:spPr>
          <a:xfrm>
            <a:off x="5073091" y="1965960"/>
            <a:ext cx="2042770" cy="2286000"/>
          </a:xfrm>
          <a:prstGeom prst="roundRect">
            <a:avLst>
              <a:gd name="adj" fmla="val 4924"/>
            </a:avLst>
          </a:prstGeom>
          <a:solidFill>
            <a:srgbClr val="E9F1EA"/>
          </a:solidFill>
          <a:ln/>
        </p:spPr>
      </p:sp>
      <p:sp>
        <p:nvSpPr>
          <p:cNvPr id="17" name="Shape 13"/>
          <p:cNvSpPr/>
          <p:nvPr/>
        </p:nvSpPr>
        <p:spPr>
          <a:xfrm>
            <a:off x="5765292" y="2240280"/>
            <a:ext cx="658368" cy="658368"/>
          </a:xfrm>
          <a:prstGeom prst="ellipse">
            <a:avLst/>
          </a:prstGeom>
          <a:solidFill>
            <a:srgbClr val="2E7D4F"/>
          </a:solidFill>
          <a:ln/>
        </p:spPr>
      </p:sp>
      <p:pic>
        <p:nvPicPr>
          <p:cNvPr id="18" name="Image 2" descr="assets/ic_gemini_F0E8D7.png"/>
          <p:cNvPicPr>
            <a:picLocks noChangeAspect="1"/>
          </p:cNvPicPr>
          <p:nvPr/>
        </p:nvPicPr>
        <p:blipFill>
          <a:blip r:embed="rId5"/>
          <a:stretch>
            <a:fillRect/>
          </a:stretch>
        </p:blipFill>
        <p:spPr>
          <a:xfrm>
            <a:off x="5923300" y="2398288"/>
            <a:ext cx="342351" cy="342351"/>
          </a:xfrm>
          <a:prstGeom prst="rect">
            <a:avLst/>
          </a:prstGeom>
        </p:spPr>
      </p:pic>
      <p:sp>
        <p:nvSpPr>
          <p:cNvPr id="19" name="Text 14"/>
          <p:cNvSpPr/>
          <p:nvPr/>
        </p:nvSpPr>
        <p:spPr>
          <a:xfrm>
            <a:off x="5164531" y="2990088"/>
            <a:ext cx="1859890" cy="274320"/>
          </a:xfrm>
          <a:prstGeom prst="rect">
            <a:avLst/>
          </a:prstGeom>
          <a:noFill/>
          <a:ln/>
        </p:spPr>
        <p:txBody>
          <a:bodyPr wrap="square" lIns="0" tIns="0" rIns="0" bIns="0" rtlCol="0" anchor="ctr"/>
          <a:lstStyle/>
          <a:p>
            <a:pPr marL="0" indent="0" algn="ctr">
              <a:buNone/>
            </a:pPr>
            <a:r>
              <a:rPr lang="en-US" sz="1150" b="1" kern="0" spc="150" dirty="0">
                <a:solidFill>
                  <a:srgbClr val="2E7D4F"/>
                </a:solidFill>
                <a:latin typeface="Calibri" pitchFamily="34" charset="0"/>
                <a:ea typeface="Calibri" pitchFamily="34" charset="-122"/>
                <a:cs typeface="Calibri" pitchFamily="34" charset="-120"/>
              </a:rPr>
              <a:t>DECIDE</a:t>
            </a:r>
            <a:endParaRPr lang="en-US" sz="1150" dirty="0"/>
          </a:p>
        </p:txBody>
      </p:sp>
      <p:sp>
        <p:nvSpPr>
          <p:cNvPr id="20" name="Text 15"/>
          <p:cNvSpPr/>
          <p:nvPr/>
        </p:nvSpPr>
        <p:spPr>
          <a:xfrm>
            <a:off x="5219395" y="3291840"/>
            <a:ext cx="1750162" cy="914400"/>
          </a:xfrm>
          <a:prstGeom prst="rect">
            <a:avLst/>
          </a:prstGeom>
          <a:noFill/>
          <a:ln/>
        </p:spPr>
        <p:txBody>
          <a:bodyPr wrap="square" lIns="0" tIns="0" rIns="0" bIns="0" rtlCol="0" anchor="t"/>
          <a:lstStyle/>
          <a:p>
            <a:pPr marL="0" indent="0" algn="ctr">
              <a:lnSpc>
                <a:spcPct val="106000"/>
              </a:lnSpc>
              <a:buNone/>
            </a:pPr>
            <a:r>
              <a:rPr lang="en-US" sz="1150" dirty="0">
                <a:solidFill>
                  <a:srgbClr val="47564C"/>
                </a:solidFill>
                <a:latin typeface="Calibri" pitchFamily="34" charset="0"/>
                <a:ea typeface="Calibri" pitchFamily="34" charset="-122"/>
                <a:cs typeface="Calibri" pitchFamily="34" charset="-120"/>
              </a:rPr>
              <a:t>A 50% gate; Gemini weighs the picture, sets severity.</a:t>
            </a:r>
            <a:endParaRPr lang="en-US" sz="1150" dirty="0"/>
          </a:p>
        </p:txBody>
      </p:sp>
      <p:sp>
        <p:nvSpPr>
          <p:cNvPr id="21" name="Text 16"/>
          <p:cNvSpPr/>
          <p:nvPr/>
        </p:nvSpPr>
        <p:spPr>
          <a:xfrm>
            <a:off x="7060997" y="2286000"/>
            <a:ext cx="329184" cy="457200"/>
          </a:xfrm>
          <a:prstGeom prst="rect">
            <a:avLst/>
          </a:prstGeom>
          <a:noFill/>
          <a:ln/>
        </p:spPr>
        <p:txBody>
          <a:bodyPr wrap="square" lIns="0" tIns="0" rIns="0" bIns="0" rtlCol="0" anchor="ctr"/>
          <a:lstStyle/>
          <a:p>
            <a:pPr marL="0" indent="0" algn="ctr">
              <a:buNone/>
            </a:pPr>
            <a:r>
              <a:rPr lang="en-US" sz="2600" b="1" dirty="0">
                <a:solidFill>
                  <a:srgbClr val="C85A28"/>
                </a:solidFill>
                <a:latin typeface="Calibri" pitchFamily="34" charset="0"/>
                <a:ea typeface="Calibri" pitchFamily="34" charset="-122"/>
                <a:cs typeface="Calibri" pitchFamily="34" charset="-120"/>
              </a:rPr>
              <a:t>›</a:t>
            </a:r>
            <a:endParaRPr lang="en-US" sz="2600" dirty="0"/>
          </a:p>
        </p:txBody>
      </p:sp>
      <p:sp>
        <p:nvSpPr>
          <p:cNvPr id="22" name="Shape 17"/>
          <p:cNvSpPr/>
          <p:nvPr/>
        </p:nvSpPr>
        <p:spPr>
          <a:xfrm>
            <a:off x="7335317" y="1965960"/>
            <a:ext cx="2042770" cy="2286000"/>
          </a:xfrm>
          <a:prstGeom prst="roundRect">
            <a:avLst>
              <a:gd name="adj" fmla="val 4924"/>
            </a:avLst>
          </a:prstGeom>
          <a:solidFill>
            <a:srgbClr val="F4F2EC"/>
          </a:solidFill>
          <a:ln/>
        </p:spPr>
      </p:sp>
      <p:sp>
        <p:nvSpPr>
          <p:cNvPr id="23" name="Shape 18"/>
          <p:cNvSpPr/>
          <p:nvPr/>
        </p:nvSpPr>
        <p:spPr>
          <a:xfrm>
            <a:off x="8027518" y="2240280"/>
            <a:ext cx="658368" cy="658368"/>
          </a:xfrm>
          <a:prstGeom prst="ellipse">
            <a:avLst/>
          </a:prstGeom>
          <a:solidFill>
            <a:srgbClr val="C85A28"/>
          </a:solidFill>
          <a:ln/>
        </p:spPr>
      </p:sp>
      <p:pic>
        <p:nvPicPr>
          <p:cNvPr id="24" name="Image 3" descr="assets/ic_envelope_F0E8D7.png"/>
          <p:cNvPicPr>
            <a:picLocks noChangeAspect="1"/>
          </p:cNvPicPr>
          <p:nvPr/>
        </p:nvPicPr>
        <p:blipFill>
          <a:blip r:embed="rId6"/>
          <a:stretch>
            <a:fillRect/>
          </a:stretch>
        </p:blipFill>
        <p:spPr>
          <a:xfrm>
            <a:off x="8185526" y="2398288"/>
            <a:ext cx="342351" cy="342351"/>
          </a:xfrm>
          <a:prstGeom prst="rect">
            <a:avLst/>
          </a:prstGeom>
        </p:spPr>
      </p:pic>
      <p:sp>
        <p:nvSpPr>
          <p:cNvPr id="25" name="Text 19"/>
          <p:cNvSpPr/>
          <p:nvPr/>
        </p:nvSpPr>
        <p:spPr>
          <a:xfrm>
            <a:off x="7426757" y="2990088"/>
            <a:ext cx="1859890" cy="274320"/>
          </a:xfrm>
          <a:prstGeom prst="rect">
            <a:avLst/>
          </a:prstGeom>
          <a:noFill/>
          <a:ln/>
        </p:spPr>
        <p:txBody>
          <a:bodyPr wrap="square" lIns="0" tIns="0" rIns="0" bIns="0" rtlCol="0" anchor="ctr"/>
          <a:lstStyle/>
          <a:p>
            <a:pPr marL="0" indent="0" algn="ctr">
              <a:buNone/>
            </a:pPr>
            <a:r>
              <a:rPr lang="en-US" sz="1150" b="1" kern="0" spc="150" dirty="0">
                <a:solidFill>
                  <a:srgbClr val="C85A28"/>
                </a:solidFill>
                <a:latin typeface="Calibri" pitchFamily="34" charset="0"/>
                <a:ea typeface="Calibri" pitchFamily="34" charset="-122"/>
                <a:cs typeface="Calibri" pitchFamily="34" charset="-120"/>
              </a:rPr>
              <a:t>ACT</a:t>
            </a:r>
            <a:endParaRPr lang="en-US" sz="1150" dirty="0"/>
          </a:p>
        </p:txBody>
      </p:sp>
      <p:sp>
        <p:nvSpPr>
          <p:cNvPr id="26" name="Text 20"/>
          <p:cNvSpPr/>
          <p:nvPr/>
        </p:nvSpPr>
        <p:spPr>
          <a:xfrm>
            <a:off x="7481621" y="3291840"/>
            <a:ext cx="1750162" cy="914400"/>
          </a:xfrm>
          <a:prstGeom prst="rect">
            <a:avLst/>
          </a:prstGeom>
          <a:noFill/>
          <a:ln/>
        </p:spPr>
        <p:txBody>
          <a:bodyPr wrap="square" lIns="0" tIns="0" rIns="0" bIns="0" rtlCol="0" anchor="t"/>
          <a:lstStyle/>
          <a:p>
            <a:pPr marL="0" indent="0" algn="ctr">
              <a:lnSpc>
                <a:spcPct val="106000"/>
              </a:lnSpc>
              <a:buNone/>
            </a:pPr>
            <a:r>
              <a:rPr lang="en-US" sz="1150" dirty="0">
                <a:solidFill>
                  <a:srgbClr val="47564C"/>
                </a:solidFill>
                <a:latin typeface="Calibri" pitchFamily="34" charset="0"/>
                <a:ea typeface="Calibri" pitchFamily="34" charset="-122"/>
                <a:cs typeface="Calibri" pitchFamily="34" charset="-120"/>
              </a:rPr>
              <a:t>Gemini writes the warning; a human approves &amp; dispatches.</a:t>
            </a:r>
            <a:endParaRPr lang="en-US" sz="1150" dirty="0"/>
          </a:p>
        </p:txBody>
      </p:sp>
      <p:sp>
        <p:nvSpPr>
          <p:cNvPr id="27" name="Text 21"/>
          <p:cNvSpPr/>
          <p:nvPr/>
        </p:nvSpPr>
        <p:spPr>
          <a:xfrm>
            <a:off x="9323222" y="2286000"/>
            <a:ext cx="329184" cy="457200"/>
          </a:xfrm>
          <a:prstGeom prst="rect">
            <a:avLst/>
          </a:prstGeom>
          <a:noFill/>
          <a:ln/>
        </p:spPr>
        <p:txBody>
          <a:bodyPr wrap="square" lIns="0" tIns="0" rIns="0" bIns="0" rtlCol="0" anchor="ctr"/>
          <a:lstStyle/>
          <a:p>
            <a:pPr marL="0" indent="0" algn="ctr">
              <a:buNone/>
            </a:pPr>
            <a:r>
              <a:rPr lang="en-US" sz="2600" b="1" dirty="0">
                <a:solidFill>
                  <a:srgbClr val="C85A28"/>
                </a:solidFill>
                <a:latin typeface="Calibri" pitchFamily="34" charset="0"/>
                <a:ea typeface="Calibri" pitchFamily="34" charset="-122"/>
                <a:cs typeface="Calibri" pitchFamily="34" charset="-120"/>
              </a:rPr>
              <a:t>›</a:t>
            </a:r>
            <a:endParaRPr lang="en-US" sz="2600" dirty="0"/>
          </a:p>
        </p:txBody>
      </p:sp>
      <p:sp>
        <p:nvSpPr>
          <p:cNvPr id="28" name="Shape 22"/>
          <p:cNvSpPr/>
          <p:nvPr/>
        </p:nvSpPr>
        <p:spPr>
          <a:xfrm>
            <a:off x="9597542" y="1965960"/>
            <a:ext cx="2042770" cy="2286000"/>
          </a:xfrm>
          <a:prstGeom prst="roundRect">
            <a:avLst>
              <a:gd name="adj" fmla="val 4924"/>
            </a:avLst>
          </a:prstGeom>
          <a:solidFill>
            <a:srgbClr val="F4F2EC"/>
          </a:solidFill>
          <a:ln/>
        </p:spPr>
      </p:sp>
      <p:sp>
        <p:nvSpPr>
          <p:cNvPr id="29" name="Shape 23"/>
          <p:cNvSpPr/>
          <p:nvPr/>
        </p:nvSpPr>
        <p:spPr>
          <a:xfrm>
            <a:off x="10289743" y="2240280"/>
            <a:ext cx="658368" cy="658368"/>
          </a:xfrm>
          <a:prstGeom prst="ellipse">
            <a:avLst/>
          </a:prstGeom>
          <a:solidFill>
            <a:srgbClr val="C85A28"/>
          </a:solidFill>
          <a:ln/>
        </p:spPr>
      </p:sp>
      <p:pic>
        <p:nvPicPr>
          <p:cNvPr id="30" name="Image 4" descr="assets/ic_loop_F0E8D7.png"/>
          <p:cNvPicPr>
            <a:picLocks noChangeAspect="1"/>
          </p:cNvPicPr>
          <p:nvPr/>
        </p:nvPicPr>
        <p:blipFill>
          <a:blip r:embed="rId7"/>
          <a:stretch>
            <a:fillRect/>
          </a:stretch>
        </p:blipFill>
        <p:spPr>
          <a:xfrm>
            <a:off x="10447752" y="2398288"/>
            <a:ext cx="342351" cy="342351"/>
          </a:xfrm>
          <a:prstGeom prst="rect">
            <a:avLst/>
          </a:prstGeom>
        </p:spPr>
      </p:pic>
      <p:sp>
        <p:nvSpPr>
          <p:cNvPr id="31" name="Text 24"/>
          <p:cNvSpPr/>
          <p:nvPr/>
        </p:nvSpPr>
        <p:spPr>
          <a:xfrm>
            <a:off x="9688982" y="2990088"/>
            <a:ext cx="1859890" cy="274320"/>
          </a:xfrm>
          <a:prstGeom prst="rect">
            <a:avLst/>
          </a:prstGeom>
          <a:noFill/>
          <a:ln/>
        </p:spPr>
        <p:txBody>
          <a:bodyPr wrap="square" lIns="0" tIns="0" rIns="0" bIns="0" rtlCol="0" anchor="ctr"/>
          <a:lstStyle/>
          <a:p>
            <a:pPr marL="0" indent="0" algn="ctr">
              <a:buNone/>
            </a:pPr>
            <a:r>
              <a:rPr lang="en-US" sz="1150" b="1" kern="0" spc="150" dirty="0">
                <a:solidFill>
                  <a:srgbClr val="C85A28"/>
                </a:solidFill>
                <a:latin typeface="Calibri" pitchFamily="34" charset="0"/>
                <a:ea typeface="Calibri" pitchFamily="34" charset="-122"/>
                <a:cs typeface="Calibri" pitchFamily="34" charset="-120"/>
              </a:rPr>
              <a:t>MONITOR</a:t>
            </a:r>
            <a:endParaRPr lang="en-US" sz="1150" dirty="0"/>
          </a:p>
        </p:txBody>
      </p:sp>
      <p:sp>
        <p:nvSpPr>
          <p:cNvPr id="32" name="Text 25"/>
          <p:cNvSpPr/>
          <p:nvPr/>
        </p:nvSpPr>
        <p:spPr>
          <a:xfrm>
            <a:off x="9743846" y="3291840"/>
            <a:ext cx="1750162" cy="914400"/>
          </a:xfrm>
          <a:prstGeom prst="rect">
            <a:avLst/>
          </a:prstGeom>
          <a:noFill/>
          <a:ln/>
        </p:spPr>
        <p:txBody>
          <a:bodyPr wrap="square" lIns="0" tIns="0" rIns="0" bIns="0" rtlCol="0" anchor="t"/>
          <a:lstStyle/>
          <a:p>
            <a:pPr marL="0" indent="0" algn="ctr">
              <a:lnSpc>
                <a:spcPct val="106000"/>
              </a:lnSpc>
              <a:buNone/>
            </a:pPr>
            <a:r>
              <a:rPr lang="en-US" sz="1150" dirty="0">
                <a:solidFill>
                  <a:srgbClr val="47564C"/>
                </a:solidFill>
                <a:latin typeface="Calibri" pitchFamily="34" charset="0"/>
                <a:ea typeface="Calibri" pitchFamily="34" charset="-122"/>
                <a:cs typeface="Calibri" pitchFamily="34" charset="-120"/>
              </a:rPr>
              <a:t>Re-check on every fresh rain update, until the storm passes.</a:t>
            </a:r>
            <a:endParaRPr lang="en-US" sz="1150" dirty="0"/>
          </a:p>
        </p:txBody>
      </p:sp>
      <p:sp>
        <p:nvSpPr>
          <p:cNvPr id="33" name="Shape 26"/>
          <p:cNvSpPr/>
          <p:nvPr/>
        </p:nvSpPr>
        <p:spPr>
          <a:xfrm>
            <a:off x="914400" y="4507992"/>
            <a:ext cx="10360152" cy="0"/>
          </a:xfrm>
          <a:prstGeom prst="line">
            <a:avLst/>
          </a:prstGeom>
          <a:noFill/>
          <a:ln w="19050">
            <a:solidFill>
              <a:srgbClr val="2E7D4F"/>
            </a:solidFill>
            <a:prstDash val="dash"/>
            <a:headEnd type="triangle"/>
          </a:ln>
        </p:spPr>
      </p:sp>
      <p:sp>
        <p:nvSpPr>
          <p:cNvPr id="34" name="Text 27"/>
          <p:cNvSpPr/>
          <p:nvPr/>
        </p:nvSpPr>
        <p:spPr>
          <a:xfrm>
            <a:off x="548640" y="4562856"/>
            <a:ext cx="11091672" cy="274320"/>
          </a:xfrm>
          <a:prstGeom prst="rect">
            <a:avLst/>
          </a:prstGeom>
          <a:noFill/>
          <a:ln/>
        </p:spPr>
        <p:txBody>
          <a:bodyPr wrap="square" lIns="0" tIns="0" rIns="0" bIns="0" rtlCol="0" anchor="ctr"/>
          <a:lstStyle/>
          <a:p>
            <a:pPr marL="0" indent="0" algn="ctr">
              <a:buNone/>
            </a:pPr>
            <a:r>
              <a:rPr lang="en-US" sz="1100" b="1" kern="0" spc="50" dirty="0">
                <a:solidFill>
                  <a:srgbClr val="2E7D4F"/>
                </a:solidFill>
                <a:latin typeface="Calibri" pitchFamily="34" charset="0"/>
                <a:ea typeface="Calibri" pitchFamily="34" charset="-122"/>
                <a:cs typeface="Calibri" pitchFamily="34" charset="-120"/>
              </a:rPr>
              <a:t>CONTINUOUS LOOP — cheap to re-run: burn, slope and soil are computed once; only the new rain number changes</a:t>
            </a:r>
            <a:endParaRPr lang="en-US" sz="1100" dirty="0"/>
          </a:p>
        </p:txBody>
      </p:sp>
      <p:sp>
        <p:nvSpPr>
          <p:cNvPr id="35" name="Shape 28"/>
          <p:cNvSpPr/>
          <p:nvPr/>
        </p:nvSpPr>
        <p:spPr>
          <a:xfrm>
            <a:off x="548640" y="5029200"/>
            <a:ext cx="11091672" cy="1280160"/>
          </a:xfrm>
          <a:prstGeom prst="roundRect">
            <a:avLst>
              <a:gd name="adj" fmla="val 7857"/>
            </a:avLst>
          </a:prstGeom>
          <a:solidFill>
            <a:srgbClr val="F8E9DE"/>
          </a:solidFill>
          <a:ln/>
        </p:spPr>
      </p:sp>
      <p:sp>
        <p:nvSpPr>
          <p:cNvPr id="36" name="Shape 29"/>
          <p:cNvSpPr/>
          <p:nvPr/>
        </p:nvSpPr>
        <p:spPr>
          <a:xfrm>
            <a:off x="868680" y="5340096"/>
            <a:ext cx="640080" cy="640080"/>
          </a:xfrm>
          <a:prstGeom prst="ellipse">
            <a:avLst/>
          </a:prstGeom>
          <a:solidFill>
            <a:srgbClr val="C85A28"/>
          </a:solidFill>
          <a:ln/>
        </p:spPr>
      </p:sp>
      <p:pic>
        <p:nvPicPr>
          <p:cNvPr id="37" name="Image 5" descr="assets/ic_shield_F0E8D7.png"/>
          <p:cNvPicPr>
            <a:picLocks noChangeAspect="1"/>
          </p:cNvPicPr>
          <p:nvPr/>
        </p:nvPicPr>
        <p:blipFill>
          <a:blip r:embed="rId8"/>
          <a:stretch>
            <a:fillRect/>
          </a:stretch>
        </p:blipFill>
        <p:spPr>
          <a:xfrm>
            <a:off x="1022299" y="5493715"/>
            <a:ext cx="332842" cy="332842"/>
          </a:xfrm>
          <a:prstGeom prst="rect">
            <a:avLst/>
          </a:prstGeom>
        </p:spPr>
      </p:pic>
      <p:sp>
        <p:nvSpPr>
          <p:cNvPr id="38" name="Text 30"/>
          <p:cNvSpPr/>
          <p:nvPr/>
        </p:nvSpPr>
        <p:spPr>
          <a:xfrm>
            <a:off x="1691640" y="5212080"/>
            <a:ext cx="9628632" cy="365760"/>
          </a:xfrm>
          <a:prstGeom prst="rect">
            <a:avLst/>
          </a:prstGeom>
          <a:noFill/>
          <a:ln/>
        </p:spPr>
        <p:txBody>
          <a:bodyPr wrap="square" lIns="0" tIns="0" rIns="0" bIns="0" rtlCol="0" anchor="ctr"/>
          <a:lstStyle/>
          <a:p>
            <a:pPr marL="0" indent="0">
              <a:buNone/>
            </a:pPr>
            <a:r>
              <a:rPr lang="en-US" sz="1600" b="1" dirty="0">
                <a:solidFill>
                  <a:srgbClr val="1B3A29"/>
                </a:solidFill>
                <a:latin typeface="Century Schoolbook" pitchFamily="34" charset="0"/>
                <a:ea typeface="Century Schoolbook" pitchFamily="34" charset="-122"/>
                <a:cs typeface="Century Schoolbook" pitchFamily="34" charset="-120"/>
              </a:rPr>
              <a:t>Gemini reasons, but never fabricates.</a:t>
            </a:r>
            <a:endParaRPr lang="en-US" sz="1600" dirty="0"/>
          </a:p>
        </p:txBody>
      </p:sp>
      <p:sp>
        <p:nvSpPr>
          <p:cNvPr id="39" name="Text 31"/>
          <p:cNvSpPr/>
          <p:nvPr/>
        </p:nvSpPr>
        <p:spPr>
          <a:xfrm>
            <a:off x="1691640" y="5596128"/>
            <a:ext cx="9628632" cy="640080"/>
          </a:xfrm>
          <a:prstGeom prst="rect">
            <a:avLst/>
          </a:prstGeom>
          <a:noFill/>
          <a:ln/>
        </p:spPr>
        <p:txBody>
          <a:bodyPr wrap="square" lIns="0" tIns="0" rIns="0" bIns="0" rtlCol="0" anchor="t"/>
          <a:lstStyle/>
          <a:p>
            <a:pPr marL="0" indent="0">
              <a:lnSpc>
                <a:spcPct val="108000"/>
              </a:lnSpc>
              <a:buNone/>
            </a:pPr>
            <a:r>
              <a:rPr lang="en-US" sz="1250" dirty="0">
                <a:solidFill>
                  <a:srgbClr val="47564C"/>
                </a:solidFill>
                <a:latin typeface="Calibri" pitchFamily="34" charset="0"/>
                <a:ea typeface="Calibri" pitchFamily="34" charset="-122"/>
                <a:cs typeface="Calibri" pitchFamily="34" charset="-120"/>
              </a:rPr>
              <a:t>By design, every number is locked in code before Gemini is called — it writes the prose </a:t>
            </a:r>
            <a:r>
              <a:rPr lang="en-US" sz="1250" b="1" dirty="0">
                <a:solidFill>
                  <a:srgbClr val="C85A28"/>
                </a:solidFill>
                <a:latin typeface="Calibri" pitchFamily="34" charset="0"/>
                <a:ea typeface="Calibri" pitchFamily="34" charset="-122"/>
                <a:cs typeface="Calibri" pitchFamily="34" charset="-120"/>
              </a:rPr>
              <a:t>around</a:t>
            </a:r>
            <a:r>
              <a:rPr lang="en-US" sz="1250" dirty="0">
                <a:solidFill>
                  <a:srgbClr val="47564C"/>
                </a:solidFill>
                <a:latin typeface="Calibri" pitchFamily="34" charset="0"/>
                <a:ea typeface="Calibri" pitchFamily="34" charset="-122"/>
                <a:cs typeface="Calibri" pitchFamily="34" charset="-120"/>
              </a:rPr>
              <a:t> the facts, and can read the satellite image directly (it's multimodal). Generate and Send stay separate steps, so a person always approves before anything is sent.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A"/>
        </a:solidFill>
        <a:effectLst/>
      </p:bgPr>
    </p:bg>
    <p:spTree>
      <p:nvGrpSpPr>
        <p:cNvPr id="1" name=""/>
        <p:cNvGrpSpPr/>
        <p:nvPr/>
      </p:nvGrpSpPr>
      <p:grpSpPr>
        <a:xfrm>
          <a:off x="0" y="0"/>
          <a:ext cx="0" cy="0"/>
          <a:chOff x="0" y="0"/>
          <a:chExt cx="0" cy="0"/>
        </a:xfrm>
      </p:grpSpPr>
      <p:sp>
        <p:nvSpPr>
          <p:cNvPr id="2" name="Text 0"/>
          <p:cNvSpPr/>
          <p:nvPr/>
        </p:nvSpPr>
        <p:spPr>
          <a:xfrm>
            <a:off x="548640" y="502920"/>
            <a:ext cx="10515600" cy="292608"/>
          </a:xfrm>
          <a:prstGeom prst="rect">
            <a:avLst/>
          </a:prstGeom>
          <a:noFill/>
          <a:ln/>
        </p:spPr>
        <p:txBody>
          <a:bodyPr wrap="square" lIns="0" tIns="0" rIns="0" bIns="0" rtlCol="0" anchor="ctr"/>
          <a:lstStyle/>
          <a:p>
            <a:pPr marL="0" indent="0" algn="l">
              <a:buNone/>
            </a:pPr>
            <a:r>
              <a:rPr lang="en-US" sz="1250" b="1" kern="0" spc="300" dirty="0">
                <a:solidFill>
                  <a:srgbClr val="C85A28"/>
                </a:solidFill>
                <a:latin typeface="Calibri" pitchFamily="34" charset="0"/>
                <a:ea typeface="Calibri" pitchFamily="34" charset="-122"/>
                <a:cs typeface="Calibri" pitchFamily="34" charset="-120"/>
              </a:rPr>
              <a:t>THE GOOGLE EARTH AI STACK</a:t>
            </a:r>
            <a:endParaRPr lang="en-US" sz="1250" dirty="0"/>
          </a:p>
        </p:txBody>
      </p:sp>
      <p:sp>
        <p:nvSpPr>
          <p:cNvPr id="3" name="Text 1"/>
          <p:cNvSpPr/>
          <p:nvPr/>
        </p:nvSpPr>
        <p:spPr>
          <a:xfrm>
            <a:off x="548640" y="868680"/>
            <a:ext cx="10972800" cy="914400"/>
          </a:xfrm>
          <a:prstGeom prst="rect">
            <a:avLst/>
          </a:prstGeom>
          <a:noFill/>
          <a:ln/>
        </p:spPr>
        <p:txBody>
          <a:bodyPr wrap="square" lIns="0" tIns="0" rIns="0" bIns="0" rtlCol="0" anchor="ctr"/>
          <a:lstStyle/>
          <a:p>
            <a:pPr marL="0" indent="0" algn="l">
              <a:lnSpc>
                <a:spcPct val="98000"/>
              </a:lnSpc>
              <a:buNone/>
            </a:pPr>
            <a:r>
              <a:rPr lang="en-US" sz="3300" b="1" dirty="0">
                <a:solidFill>
                  <a:srgbClr val="1B3A29"/>
                </a:solidFill>
                <a:latin typeface="Century Schoolbook" pitchFamily="34" charset="0"/>
                <a:ea typeface="Century Schoolbook" pitchFamily="34" charset="-122"/>
                <a:cs typeface="Century Schoolbook" pitchFamily="34" charset="-120"/>
              </a:rPr>
              <a:t>Composed from Google's planetary AI stack</a:t>
            </a:r>
            <a:endParaRPr lang="en-US" sz="3300" dirty="0"/>
          </a:p>
        </p:txBody>
      </p:sp>
      <p:sp>
        <p:nvSpPr>
          <p:cNvPr id="4" name="Shape 2"/>
          <p:cNvSpPr/>
          <p:nvPr/>
        </p:nvSpPr>
        <p:spPr>
          <a:xfrm>
            <a:off x="548640" y="1828800"/>
            <a:ext cx="3514344" cy="1691640"/>
          </a:xfrm>
          <a:prstGeom prst="roundRect">
            <a:avLst>
              <a:gd name="adj" fmla="val 5946"/>
            </a:avLst>
          </a:prstGeom>
          <a:solidFill>
            <a:srgbClr val="F8E9DE"/>
          </a:solidFill>
          <a:ln/>
        </p:spPr>
      </p:sp>
      <p:sp>
        <p:nvSpPr>
          <p:cNvPr id="5" name="Shape 3"/>
          <p:cNvSpPr/>
          <p:nvPr/>
        </p:nvSpPr>
        <p:spPr>
          <a:xfrm>
            <a:off x="822960" y="2084832"/>
            <a:ext cx="566928" cy="566928"/>
          </a:xfrm>
          <a:prstGeom prst="ellipse">
            <a:avLst/>
          </a:prstGeom>
          <a:solidFill>
            <a:srgbClr val="C85A28"/>
          </a:solidFill>
          <a:ln/>
        </p:spPr>
      </p:sp>
      <p:pic>
        <p:nvPicPr>
          <p:cNvPr id="6" name="Image 0" descr="assets/ic_layers_F0E8D7.png"/>
          <p:cNvPicPr>
            <a:picLocks noChangeAspect="1"/>
          </p:cNvPicPr>
          <p:nvPr/>
        </p:nvPicPr>
        <p:blipFill>
          <a:blip r:embed="rId3"/>
          <a:stretch>
            <a:fillRect/>
          </a:stretch>
        </p:blipFill>
        <p:spPr>
          <a:xfrm>
            <a:off x="959023" y="2220895"/>
            <a:ext cx="294803" cy="294803"/>
          </a:xfrm>
          <a:prstGeom prst="rect">
            <a:avLst/>
          </a:prstGeom>
        </p:spPr>
      </p:pic>
      <p:sp>
        <p:nvSpPr>
          <p:cNvPr id="7" name="Shape 4"/>
          <p:cNvSpPr/>
          <p:nvPr/>
        </p:nvSpPr>
        <p:spPr>
          <a:xfrm>
            <a:off x="2965704" y="2121408"/>
            <a:ext cx="861365" cy="274320"/>
          </a:xfrm>
          <a:prstGeom prst="roundRect">
            <a:avLst>
              <a:gd name="adj" fmla="val 50000"/>
            </a:avLst>
          </a:prstGeom>
          <a:solidFill>
            <a:srgbClr val="FFFFFF"/>
          </a:solidFill>
          <a:ln w="12700">
            <a:solidFill>
              <a:srgbClr val="2E7D4F"/>
            </a:solidFill>
            <a:prstDash val="solid"/>
          </a:ln>
        </p:spPr>
      </p:sp>
      <p:sp>
        <p:nvSpPr>
          <p:cNvPr id="8" name="Text 5"/>
          <p:cNvSpPr/>
          <p:nvPr/>
        </p:nvSpPr>
        <p:spPr>
          <a:xfrm>
            <a:off x="2965704" y="2121408"/>
            <a:ext cx="861365" cy="274320"/>
          </a:xfrm>
          <a:prstGeom prst="rect">
            <a:avLst/>
          </a:prstGeom>
          <a:noFill/>
          <a:ln/>
        </p:spPr>
        <p:txBody>
          <a:bodyPr wrap="square" lIns="0" tIns="0" rIns="0" bIns="0" rtlCol="0" anchor="ctr"/>
          <a:lstStyle/>
          <a:p>
            <a:pPr marL="0" indent="0" algn="ctr">
              <a:buNone/>
            </a:pPr>
            <a:r>
              <a:rPr lang="en-US" sz="900" b="1" kern="0" spc="150" dirty="0">
                <a:solidFill>
                  <a:srgbClr val="2E7D4F"/>
                </a:solidFill>
                <a:latin typeface="Calibri" pitchFamily="34" charset="0"/>
                <a:ea typeface="Calibri" pitchFamily="34" charset="-122"/>
                <a:cs typeface="Calibri" pitchFamily="34" charset="-120"/>
              </a:rPr>
              <a:t>AVAILABLE</a:t>
            </a:r>
            <a:endParaRPr lang="en-US" sz="900" dirty="0"/>
          </a:p>
        </p:txBody>
      </p:sp>
      <p:sp>
        <p:nvSpPr>
          <p:cNvPr id="9" name="Text 6"/>
          <p:cNvSpPr/>
          <p:nvPr/>
        </p:nvSpPr>
        <p:spPr>
          <a:xfrm>
            <a:off x="822960" y="2743200"/>
            <a:ext cx="2965704" cy="320040"/>
          </a:xfrm>
          <a:prstGeom prst="rect">
            <a:avLst/>
          </a:prstGeom>
          <a:noFill/>
          <a:ln/>
        </p:spPr>
        <p:txBody>
          <a:bodyPr wrap="square" lIns="0" tIns="0" rIns="0" bIns="0" rtlCol="0" anchor="ctr"/>
          <a:lstStyle/>
          <a:p>
            <a:pPr marL="0" indent="0">
              <a:buNone/>
            </a:pPr>
            <a:r>
              <a:rPr lang="en-US" sz="1550" b="1" dirty="0">
                <a:solidFill>
                  <a:srgbClr val="1B3A29"/>
                </a:solidFill>
                <a:latin typeface="Century Schoolbook" pitchFamily="34" charset="0"/>
                <a:ea typeface="Century Schoolbook" pitchFamily="34" charset="-122"/>
                <a:cs typeface="Century Schoolbook" pitchFamily="34" charset="-120"/>
              </a:rPr>
              <a:t>Google Earth Engine</a:t>
            </a:r>
            <a:endParaRPr lang="en-US" sz="1550" dirty="0"/>
          </a:p>
        </p:txBody>
      </p:sp>
      <p:sp>
        <p:nvSpPr>
          <p:cNvPr id="10" name="Text 7"/>
          <p:cNvSpPr/>
          <p:nvPr/>
        </p:nvSpPr>
        <p:spPr>
          <a:xfrm>
            <a:off x="822960" y="3072384"/>
            <a:ext cx="3011424" cy="411480"/>
          </a:xfrm>
          <a:prstGeom prst="rect">
            <a:avLst/>
          </a:prstGeom>
          <a:noFill/>
          <a:ln/>
        </p:spPr>
        <p:txBody>
          <a:bodyPr wrap="square" lIns="0" tIns="0" rIns="0" bIns="0" rtlCol="0" anchor="t"/>
          <a:lstStyle/>
          <a:p>
            <a:pPr marL="0" indent="0">
              <a:lnSpc>
                <a:spcPct val="104000"/>
              </a:lnSpc>
              <a:buNone/>
            </a:pPr>
            <a:r>
              <a:rPr lang="en-US" sz="1100" dirty="0">
                <a:solidFill>
                  <a:srgbClr val="47564C"/>
                </a:solidFill>
                <a:latin typeface="Calibri" pitchFamily="34" charset="0"/>
                <a:ea typeface="Calibri" pitchFamily="34" charset="-122"/>
                <a:cs typeface="Calibri" pitchFamily="34" charset="-120"/>
              </a:rPr>
              <a:t>Petabytes of satellite data + planetary compute — the backbone for the whole pipeline.</a:t>
            </a:r>
            <a:endParaRPr lang="en-US" sz="1100" dirty="0"/>
          </a:p>
        </p:txBody>
      </p:sp>
      <p:sp>
        <p:nvSpPr>
          <p:cNvPr id="11" name="Shape 8"/>
          <p:cNvSpPr/>
          <p:nvPr/>
        </p:nvSpPr>
        <p:spPr>
          <a:xfrm>
            <a:off x="4337304" y="1828800"/>
            <a:ext cx="3514344" cy="1691640"/>
          </a:xfrm>
          <a:prstGeom prst="roundRect">
            <a:avLst>
              <a:gd name="adj" fmla="val 5946"/>
            </a:avLst>
          </a:prstGeom>
          <a:solidFill>
            <a:srgbClr val="E9F1EA"/>
          </a:solidFill>
          <a:ln/>
        </p:spPr>
      </p:sp>
      <p:sp>
        <p:nvSpPr>
          <p:cNvPr id="12" name="Shape 9"/>
          <p:cNvSpPr/>
          <p:nvPr/>
        </p:nvSpPr>
        <p:spPr>
          <a:xfrm>
            <a:off x="4611624" y="2084832"/>
            <a:ext cx="566928" cy="566928"/>
          </a:xfrm>
          <a:prstGeom prst="ellipse">
            <a:avLst/>
          </a:prstGeom>
          <a:solidFill>
            <a:srgbClr val="2E7D4F"/>
          </a:solidFill>
          <a:ln/>
        </p:spPr>
      </p:sp>
      <p:pic>
        <p:nvPicPr>
          <p:cNvPr id="13" name="Image 1" descr="assets/ic_gemini_F0E8D7.png"/>
          <p:cNvPicPr>
            <a:picLocks noChangeAspect="1"/>
          </p:cNvPicPr>
          <p:nvPr/>
        </p:nvPicPr>
        <p:blipFill>
          <a:blip r:embed="rId4"/>
          <a:stretch>
            <a:fillRect/>
          </a:stretch>
        </p:blipFill>
        <p:spPr>
          <a:xfrm>
            <a:off x="4747687" y="2220895"/>
            <a:ext cx="294803" cy="294803"/>
          </a:xfrm>
          <a:prstGeom prst="rect">
            <a:avLst/>
          </a:prstGeom>
        </p:spPr>
      </p:pic>
      <p:sp>
        <p:nvSpPr>
          <p:cNvPr id="14" name="Shape 10"/>
          <p:cNvSpPr/>
          <p:nvPr/>
        </p:nvSpPr>
        <p:spPr>
          <a:xfrm>
            <a:off x="6754368" y="2121408"/>
            <a:ext cx="861365" cy="274320"/>
          </a:xfrm>
          <a:prstGeom prst="roundRect">
            <a:avLst>
              <a:gd name="adj" fmla="val 50000"/>
            </a:avLst>
          </a:prstGeom>
          <a:solidFill>
            <a:srgbClr val="FFFFFF"/>
          </a:solidFill>
          <a:ln w="12700">
            <a:solidFill>
              <a:srgbClr val="2E7D4F"/>
            </a:solidFill>
            <a:prstDash val="solid"/>
          </a:ln>
        </p:spPr>
      </p:sp>
      <p:sp>
        <p:nvSpPr>
          <p:cNvPr id="15" name="Text 11"/>
          <p:cNvSpPr/>
          <p:nvPr/>
        </p:nvSpPr>
        <p:spPr>
          <a:xfrm>
            <a:off x="6754368" y="2121408"/>
            <a:ext cx="861365" cy="274320"/>
          </a:xfrm>
          <a:prstGeom prst="rect">
            <a:avLst/>
          </a:prstGeom>
          <a:noFill/>
          <a:ln/>
        </p:spPr>
        <p:txBody>
          <a:bodyPr wrap="square" lIns="0" tIns="0" rIns="0" bIns="0" rtlCol="0" anchor="ctr"/>
          <a:lstStyle/>
          <a:p>
            <a:pPr marL="0" indent="0" algn="ctr">
              <a:buNone/>
            </a:pPr>
            <a:r>
              <a:rPr lang="en-US" sz="900" b="1" kern="0" spc="150" dirty="0">
                <a:solidFill>
                  <a:srgbClr val="2E7D4F"/>
                </a:solidFill>
                <a:latin typeface="Calibri" pitchFamily="34" charset="0"/>
                <a:ea typeface="Calibri" pitchFamily="34" charset="-122"/>
                <a:cs typeface="Calibri" pitchFamily="34" charset="-120"/>
              </a:rPr>
              <a:t>AVAILABLE</a:t>
            </a:r>
            <a:endParaRPr lang="en-US" sz="900" dirty="0"/>
          </a:p>
        </p:txBody>
      </p:sp>
      <p:sp>
        <p:nvSpPr>
          <p:cNvPr id="16" name="Text 12"/>
          <p:cNvSpPr/>
          <p:nvPr/>
        </p:nvSpPr>
        <p:spPr>
          <a:xfrm>
            <a:off x="4611624" y="2743200"/>
            <a:ext cx="2965704" cy="320040"/>
          </a:xfrm>
          <a:prstGeom prst="rect">
            <a:avLst/>
          </a:prstGeom>
          <a:noFill/>
          <a:ln/>
        </p:spPr>
        <p:txBody>
          <a:bodyPr wrap="square" lIns="0" tIns="0" rIns="0" bIns="0" rtlCol="0" anchor="ctr"/>
          <a:lstStyle/>
          <a:p>
            <a:pPr marL="0" indent="0">
              <a:buNone/>
            </a:pPr>
            <a:r>
              <a:rPr lang="en-US" sz="1550" b="1" dirty="0">
                <a:solidFill>
                  <a:srgbClr val="1B3A29"/>
                </a:solidFill>
                <a:latin typeface="Century Schoolbook" pitchFamily="34" charset="0"/>
                <a:ea typeface="Century Schoolbook" pitchFamily="34" charset="-122"/>
                <a:cs typeface="Century Schoolbook" pitchFamily="34" charset="-120"/>
              </a:rPr>
              <a:t>Gemini</a:t>
            </a:r>
            <a:endParaRPr lang="en-US" sz="1550" dirty="0"/>
          </a:p>
        </p:txBody>
      </p:sp>
      <p:sp>
        <p:nvSpPr>
          <p:cNvPr id="17" name="Text 13"/>
          <p:cNvSpPr/>
          <p:nvPr/>
        </p:nvSpPr>
        <p:spPr>
          <a:xfrm>
            <a:off x="4611624" y="3072384"/>
            <a:ext cx="3011424" cy="411480"/>
          </a:xfrm>
          <a:prstGeom prst="rect">
            <a:avLst/>
          </a:prstGeom>
          <a:noFill/>
          <a:ln/>
        </p:spPr>
        <p:txBody>
          <a:bodyPr wrap="square" lIns="0" tIns="0" rIns="0" bIns="0" rtlCol="0" anchor="t"/>
          <a:lstStyle/>
          <a:p>
            <a:pPr marL="0" indent="0">
              <a:lnSpc>
                <a:spcPct val="104000"/>
              </a:lnSpc>
              <a:buNone/>
            </a:pPr>
            <a:r>
              <a:rPr lang="en-US" sz="1100" dirty="0">
                <a:solidFill>
                  <a:srgbClr val="47564C"/>
                </a:solidFill>
                <a:latin typeface="Calibri" pitchFamily="34" charset="0"/>
                <a:ea typeface="Calibri" pitchFamily="34" charset="-122"/>
                <a:cs typeface="Calibri" pitchFamily="34" charset="-120"/>
              </a:rPr>
              <a:t>Multimodal reasoning to read the numbers and the satellite image, and write the warning.</a:t>
            </a:r>
            <a:endParaRPr lang="en-US" sz="1100" dirty="0"/>
          </a:p>
        </p:txBody>
      </p:sp>
      <p:sp>
        <p:nvSpPr>
          <p:cNvPr id="18" name="Shape 14"/>
          <p:cNvSpPr/>
          <p:nvPr/>
        </p:nvSpPr>
        <p:spPr>
          <a:xfrm>
            <a:off x="8125968" y="1828800"/>
            <a:ext cx="3514344" cy="1691640"/>
          </a:xfrm>
          <a:prstGeom prst="roundRect">
            <a:avLst>
              <a:gd name="adj" fmla="val 5946"/>
            </a:avLst>
          </a:prstGeom>
          <a:solidFill>
            <a:srgbClr val="F4F2EC"/>
          </a:solidFill>
          <a:ln/>
        </p:spPr>
      </p:sp>
      <p:sp>
        <p:nvSpPr>
          <p:cNvPr id="19" name="Shape 15"/>
          <p:cNvSpPr/>
          <p:nvPr/>
        </p:nvSpPr>
        <p:spPr>
          <a:xfrm>
            <a:off x="8400288" y="2084832"/>
            <a:ext cx="566928" cy="566928"/>
          </a:xfrm>
          <a:prstGeom prst="ellipse">
            <a:avLst/>
          </a:prstGeom>
          <a:solidFill>
            <a:srgbClr val="C85A28"/>
          </a:solidFill>
          <a:ln/>
        </p:spPr>
      </p:sp>
      <p:pic>
        <p:nvPicPr>
          <p:cNvPr id="20" name="Image 2" descr="assets/ic_cloud_F0E8D7.png"/>
          <p:cNvPicPr>
            <a:picLocks noChangeAspect="1"/>
          </p:cNvPicPr>
          <p:nvPr/>
        </p:nvPicPr>
        <p:blipFill>
          <a:blip r:embed="rId5"/>
          <a:stretch>
            <a:fillRect/>
          </a:stretch>
        </p:blipFill>
        <p:spPr>
          <a:xfrm>
            <a:off x="8536351" y="2220895"/>
            <a:ext cx="294803" cy="294803"/>
          </a:xfrm>
          <a:prstGeom prst="rect">
            <a:avLst/>
          </a:prstGeom>
        </p:spPr>
      </p:pic>
      <p:sp>
        <p:nvSpPr>
          <p:cNvPr id="21" name="Shape 16"/>
          <p:cNvSpPr/>
          <p:nvPr/>
        </p:nvSpPr>
        <p:spPr>
          <a:xfrm>
            <a:off x="10543032" y="2121408"/>
            <a:ext cx="861365" cy="274320"/>
          </a:xfrm>
          <a:prstGeom prst="roundRect">
            <a:avLst>
              <a:gd name="adj" fmla="val 50000"/>
            </a:avLst>
          </a:prstGeom>
          <a:solidFill>
            <a:srgbClr val="FFFFFF"/>
          </a:solidFill>
          <a:ln w="12700">
            <a:solidFill>
              <a:srgbClr val="2E7D4F"/>
            </a:solidFill>
            <a:prstDash val="solid"/>
          </a:ln>
        </p:spPr>
      </p:sp>
      <p:sp>
        <p:nvSpPr>
          <p:cNvPr id="22" name="Text 17"/>
          <p:cNvSpPr/>
          <p:nvPr/>
        </p:nvSpPr>
        <p:spPr>
          <a:xfrm>
            <a:off x="10543032" y="2121408"/>
            <a:ext cx="861365" cy="274320"/>
          </a:xfrm>
          <a:prstGeom prst="rect">
            <a:avLst/>
          </a:prstGeom>
          <a:noFill/>
          <a:ln/>
        </p:spPr>
        <p:txBody>
          <a:bodyPr wrap="square" lIns="0" tIns="0" rIns="0" bIns="0" rtlCol="0" anchor="ctr"/>
          <a:lstStyle/>
          <a:p>
            <a:pPr marL="0" indent="0" algn="ctr">
              <a:buNone/>
            </a:pPr>
            <a:r>
              <a:rPr lang="en-US" sz="900" b="1" kern="0" spc="150" dirty="0">
                <a:solidFill>
                  <a:srgbClr val="2E7D4F"/>
                </a:solidFill>
                <a:latin typeface="Calibri" pitchFamily="34" charset="0"/>
                <a:ea typeface="Calibri" pitchFamily="34" charset="-122"/>
                <a:cs typeface="Calibri" pitchFamily="34" charset="-120"/>
              </a:rPr>
              <a:t>AVAILABLE</a:t>
            </a:r>
            <a:endParaRPr lang="en-US" sz="900" dirty="0"/>
          </a:p>
        </p:txBody>
      </p:sp>
      <p:sp>
        <p:nvSpPr>
          <p:cNvPr id="23" name="Text 18"/>
          <p:cNvSpPr/>
          <p:nvPr/>
        </p:nvSpPr>
        <p:spPr>
          <a:xfrm>
            <a:off x="8400288" y="2743200"/>
            <a:ext cx="2965704" cy="320040"/>
          </a:xfrm>
          <a:prstGeom prst="rect">
            <a:avLst/>
          </a:prstGeom>
          <a:noFill/>
          <a:ln/>
        </p:spPr>
        <p:txBody>
          <a:bodyPr wrap="square" lIns="0" tIns="0" rIns="0" bIns="0" rtlCol="0" anchor="ctr"/>
          <a:lstStyle/>
          <a:p>
            <a:pPr marL="0" indent="0">
              <a:buNone/>
            </a:pPr>
            <a:r>
              <a:rPr lang="en-US" sz="1550" b="1" dirty="0">
                <a:solidFill>
                  <a:srgbClr val="1B3A29"/>
                </a:solidFill>
                <a:latin typeface="Century Schoolbook" pitchFamily="34" charset="0"/>
                <a:ea typeface="Century Schoolbook" pitchFamily="34" charset="-122"/>
                <a:cs typeface="Century Schoolbook" pitchFamily="34" charset="-120"/>
              </a:rPr>
              <a:t>WeatherNext</a:t>
            </a:r>
            <a:endParaRPr lang="en-US" sz="1550" dirty="0"/>
          </a:p>
        </p:txBody>
      </p:sp>
      <p:sp>
        <p:nvSpPr>
          <p:cNvPr id="24" name="Text 19"/>
          <p:cNvSpPr/>
          <p:nvPr/>
        </p:nvSpPr>
        <p:spPr>
          <a:xfrm>
            <a:off x="8400288" y="3072384"/>
            <a:ext cx="3011424" cy="411480"/>
          </a:xfrm>
          <a:prstGeom prst="rect">
            <a:avLst/>
          </a:prstGeom>
          <a:noFill/>
          <a:ln/>
        </p:spPr>
        <p:txBody>
          <a:bodyPr wrap="square" lIns="0" tIns="0" rIns="0" bIns="0" rtlCol="0" anchor="t"/>
          <a:lstStyle/>
          <a:p>
            <a:pPr marL="0" indent="0">
              <a:lnSpc>
                <a:spcPct val="104000"/>
              </a:lnSpc>
              <a:buNone/>
            </a:pPr>
            <a:r>
              <a:rPr lang="en-US" sz="1100" dirty="0">
                <a:solidFill>
                  <a:srgbClr val="47564C"/>
                </a:solidFill>
                <a:latin typeface="Calibri" pitchFamily="34" charset="0"/>
                <a:ea typeface="Calibri" pitchFamily="34" charset="-122"/>
                <a:cs typeface="Calibri" pitchFamily="34" charset="-120"/>
              </a:rPr>
              <a:t>DeepMind's sharp precipitation forecasts for the forward-looking path.</a:t>
            </a:r>
            <a:endParaRPr lang="en-US" sz="1100" dirty="0"/>
          </a:p>
        </p:txBody>
      </p:sp>
      <p:sp>
        <p:nvSpPr>
          <p:cNvPr id="32" name="Shape 26"/>
          <p:cNvSpPr/>
          <p:nvPr/>
        </p:nvSpPr>
        <p:spPr>
          <a:xfrm>
            <a:off x="2043410" y="3794760"/>
            <a:ext cx="3514344" cy="1691640"/>
          </a:xfrm>
          <a:prstGeom prst="roundRect">
            <a:avLst>
              <a:gd name="adj" fmla="val 5946"/>
            </a:avLst>
          </a:prstGeom>
          <a:solidFill>
            <a:srgbClr val="F4F2EC"/>
          </a:solidFill>
          <a:ln/>
        </p:spPr>
      </p:sp>
      <p:sp>
        <p:nvSpPr>
          <p:cNvPr id="33" name="Shape 27"/>
          <p:cNvSpPr/>
          <p:nvPr/>
        </p:nvSpPr>
        <p:spPr>
          <a:xfrm>
            <a:off x="2317730" y="4050792"/>
            <a:ext cx="566928" cy="566928"/>
          </a:xfrm>
          <a:prstGeom prst="ellipse">
            <a:avLst/>
          </a:prstGeom>
          <a:solidFill>
            <a:srgbClr val="C85A28"/>
          </a:solidFill>
          <a:ln/>
        </p:spPr>
      </p:sp>
      <p:pic>
        <p:nvPicPr>
          <p:cNvPr id="34" name="Image 4" descr="assets/ic_satellite_F0E8D7.png"/>
          <p:cNvPicPr>
            <a:picLocks noChangeAspect="1"/>
          </p:cNvPicPr>
          <p:nvPr/>
        </p:nvPicPr>
        <p:blipFill>
          <a:blip r:embed="rId6"/>
          <a:stretch>
            <a:fillRect/>
          </a:stretch>
        </p:blipFill>
        <p:spPr>
          <a:xfrm>
            <a:off x="2453793" y="4186855"/>
            <a:ext cx="294803" cy="294803"/>
          </a:xfrm>
          <a:prstGeom prst="rect">
            <a:avLst/>
          </a:prstGeom>
        </p:spPr>
      </p:pic>
      <p:sp>
        <p:nvSpPr>
          <p:cNvPr id="35" name="Shape 28"/>
          <p:cNvSpPr/>
          <p:nvPr/>
        </p:nvSpPr>
        <p:spPr>
          <a:xfrm>
            <a:off x="4460474" y="4087368"/>
            <a:ext cx="718718" cy="274320"/>
          </a:xfrm>
          <a:prstGeom prst="roundRect">
            <a:avLst>
              <a:gd name="adj" fmla="val 50000"/>
            </a:avLst>
          </a:prstGeom>
          <a:solidFill>
            <a:srgbClr val="FFFFFF"/>
          </a:solidFill>
          <a:ln w="12700">
            <a:solidFill>
              <a:srgbClr val="C85A28"/>
            </a:solidFill>
            <a:prstDash val="solid"/>
          </a:ln>
        </p:spPr>
      </p:sp>
      <p:sp>
        <p:nvSpPr>
          <p:cNvPr id="36" name="Text 29"/>
          <p:cNvSpPr/>
          <p:nvPr/>
        </p:nvSpPr>
        <p:spPr>
          <a:xfrm>
            <a:off x="4460474" y="4087368"/>
            <a:ext cx="718718" cy="274320"/>
          </a:xfrm>
          <a:prstGeom prst="rect">
            <a:avLst/>
          </a:prstGeom>
          <a:noFill/>
          <a:ln/>
        </p:spPr>
        <p:txBody>
          <a:bodyPr wrap="square" lIns="0" tIns="0" rIns="0" bIns="0" rtlCol="0" anchor="ctr"/>
          <a:lstStyle/>
          <a:p>
            <a:pPr marL="0" indent="0" algn="ctr">
              <a:buNone/>
            </a:pPr>
            <a:r>
              <a:rPr lang="en-US" sz="900" b="1" kern="0" spc="150" dirty="0">
                <a:solidFill>
                  <a:srgbClr val="C85A28"/>
                </a:solidFill>
                <a:latin typeface="Calibri" pitchFamily="34" charset="0"/>
                <a:ea typeface="Calibri" pitchFamily="34" charset="-122"/>
                <a:cs typeface="Calibri" pitchFamily="34" charset="-120"/>
              </a:rPr>
              <a:t>ROADMAP</a:t>
            </a:r>
            <a:endParaRPr lang="en-US" sz="900" dirty="0"/>
          </a:p>
        </p:txBody>
      </p:sp>
      <p:sp>
        <p:nvSpPr>
          <p:cNvPr id="37" name="Text 30"/>
          <p:cNvSpPr/>
          <p:nvPr/>
        </p:nvSpPr>
        <p:spPr>
          <a:xfrm>
            <a:off x="2317730" y="4709160"/>
            <a:ext cx="2965704" cy="320040"/>
          </a:xfrm>
          <a:prstGeom prst="rect">
            <a:avLst/>
          </a:prstGeom>
          <a:noFill/>
          <a:ln/>
        </p:spPr>
        <p:txBody>
          <a:bodyPr wrap="square" lIns="0" tIns="0" rIns="0" bIns="0" rtlCol="0" anchor="ctr"/>
          <a:lstStyle/>
          <a:p>
            <a:pPr marL="0" indent="0">
              <a:buNone/>
            </a:pPr>
            <a:r>
              <a:rPr lang="en-US" sz="1550" b="1" dirty="0">
                <a:solidFill>
                  <a:srgbClr val="1B3A29"/>
                </a:solidFill>
                <a:latin typeface="Century Schoolbook" pitchFamily="34" charset="0"/>
                <a:ea typeface="Century Schoolbook" pitchFamily="34" charset="-122"/>
                <a:cs typeface="Century Schoolbook" pitchFamily="34" charset="-120"/>
              </a:rPr>
              <a:t>FireSat</a:t>
            </a:r>
            <a:endParaRPr lang="en-US" sz="1550" dirty="0"/>
          </a:p>
        </p:txBody>
      </p:sp>
      <p:sp>
        <p:nvSpPr>
          <p:cNvPr id="38" name="Text 31"/>
          <p:cNvSpPr/>
          <p:nvPr/>
        </p:nvSpPr>
        <p:spPr>
          <a:xfrm>
            <a:off x="2317730" y="5038344"/>
            <a:ext cx="3011424" cy="411480"/>
          </a:xfrm>
          <a:prstGeom prst="rect">
            <a:avLst/>
          </a:prstGeom>
          <a:noFill/>
          <a:ln/>
        </p:spPr>
        <p:txBody>
          <a:bodyPr wrap="square" lIns="0" tIns="0" rIns="0" bIns="0" rtlCol="0" anchor="t"/>
          <a:lstStyle/>
          <a:p>
            <a:pPr marL="0" indent="0">
              <a:lnSpc>
                <a:spcPct val="104000"/>
              </a:lnSpc>
              <a:buNone/>
            </a:pPr>
            <a:r>
              <a:rPr lang="en-US" sz="1100" dirty="0">
                <a:solidFill>
                  <a:srgbClr val="47564C"/>
                </a:solidFill>
                <a:latin typeface="Calibri" pitchFamily="34" charset="0"/>
                <a:ea typeface="Calibri" pitchFamily="34" charset="-122"/>
                <a:cs typeface="Calibri" pitchFamily="34" charset="-120"/>
              </a:rPr>
              <a:t>5×5 m fire detection every 20 min — the autonomous trigger for the loop.</a:t>
            </a:r>
            <a:endParaRPr lang="en-US" sz="1100" dirty="0"/>
          </a:p>
        </p:txBody>
      </p:sp>
      <p:sp>
        <p:nvSpPr>
          <p:cNvPr id="39" name="Shape 32"/>
          <p:cNvSpPr/>
          <p:nvPr/>
        </p:nvSpPr>
        <p:spPr>
          <a:xfrm>
            <a:off x="5981841" y="3794760"/>
            <a:ext cx="3514344" cy="1691640"/>
          </a:xfrm>
          <a:prstGeom prst="roundRect">
            <a:avLst>
              <a:gd name="adj" fmla="val 5946"/>
            </a:avLst>
          </a:prstGeom>
          <a:solidFill>
            <a:srgbClr val="F8E9DE"/>
          </a:solidFill>
          <a:ln/>
        </p:spPr>
      </p:sp>
      <p:sp>
        <p:nvSpPr>
          <p:cNvPr id="40" name="Shape 33"/>
          <p:cNvSpPr/>
          <p:nvPr/>
        </p:nvSpPr>
        <p:spPr>
          <a:xfrm>
            <a:off x="6256161" y="4050792"/>
            <a:ext cx="566928" cy="566928"/>
          </a:xfrm>
          <a:prstGeom prst="ellipse">
            <a:avLst/>
          </a:prstGeom>
          <a:solidFill>
            <a:srgbClr val="C85A28"/>
          </a:solidFill>
          <a:ln/>
        </p:spPr>
      </p:sp>
      <p:pic>
        <p:nvPicPr>
          <p:cNvPr id="41" name="Image 5" descr="assets/ic_globe_F0E8D7.png"/>
          <p:cNvPicPr>
            <a:picLocks noChangeAspect="1"/>
          </p:cNvPicPr>
          <p:nvPr/>
        </p:nvPicPr>
        <p:blipFill>
          <a:blip r:embed="rId7"/>
          <a:stretch>
            <a:fillRect/>
          </a:stretch>
        </p:blipFill>
        <p:spPr>
          <a:xfrm>
            <a:off x="6392224" y="4186855"/>
            <a:ext cx="294803" cy="294803"/>
          </a:xfrm>
          <a:prstGeom prst="rect">
            <a:avLst/>
          </a:prstGeom>
        </p:spPr>
      </p:pic>
      <p:sp>
        <p:nvSpPr>
          <p:cNvPr id="42" name="Shape 34"/>
          <p:cNvSpPr/>
          <p:nvPr/>
        </p:nvSpPr>
        <p:spPr>
          <a:xfrm>
            <a:off x="8398905" y="4087368"/>
            <a:ext cx="718718" cy="274320"/>
          </a:xfrm>
          <a:prstGeom prst="roundRect">
            <a:avLst>
              <a:gd name="adj" fmla="val 50000"/>
            </a:avLst>
          </a:prstGeom>
          <a:solidFill>
            <a:srgbClr val="FFFFFF"/>
          </a:solidFill>
          <a:ln w="12700">
            <a:solidFill>
              <a:srgbClr val="C85A28"/>
            </a:solidFill>
            <a:prstDash val="solid"/>
          </a:ln>
        </p:spPr>
      </p:sp>
      <p:sp>
        <p:nvSpPr>
          <p:cNvPr id="43" name="Text 35"/>
          <p:cNvSpPr/>
          <p:nvPr/>
        </p:nvSpPr>
        <p:spPr>
          <a:xfrm>
            <a:off x="8398905" y="4087368"/>
            <a:ext cx="718718" cy="274320"/>
          </a:xfrm>
          <a:prstGeom prst="rect">
            <a:avLst/>
          </a:prstGeom>
          <a:noFill/>
          <a:ln/>
        </p:spPr>
        <p:txBody>
          <a:bodyPr wrap="square" lIns="0" tIns="0" rIns="0" bIns="0" rtlCol="0" anchor="ctr"/>
          <a:lstStyle/>
          <a:p>
            <a:pPr marL="0" indent="0" algn="ctr">
              <a:buNone/>
            </a:pPr>
            <a:r>
              <a:rPr lang="en-US" sz="900" b="1" kern="0" spc="150" dirty="0">
                <a:solidFill>
                  <a:srgbClr val="C85A28"/>
                </a:solidFill>
                <a:latin typeface="Calibri" pitchFamily="34" charset="0"/>
                <a:ea typeface="Calibri" pitchFamily="34" charset="-122"/>
                <a:cs typeface="Calibri" pitchFamily="34" charset="-120"/>
              </a:rPr>
              <a:t>ROADMAP</a:t>
            </a:r>
            <a:endParaRPr lang="en-US" sz="900" dirty="0"/>
          </a:p>
        </p:txBody>
      </p:sp>
      <p:sp>
        <p:nvSpPr>
          <p:cNvPr id="44" name="Text 36"/>
          <p:cNvSpPr/>
          <p:nvPr/>
        </p:nvSpPr>
        <p:spPr>
          <a:xfrm>
            <a:off x="6256161" y="4709160"/>
            <a:ext cx="2965704" cy="320040"/>
          </a:xfrm>
          <a:prstGeom prst="rect">
            <a:avLst/>
          </a:prstGeom>
          <a:noFill/>
          <a:ln/>
        </p:spPr>
        <p:txBody>
          <a:bodyPr wrap="square" lIns="0" tIns="0" rIns="0" bIns="0" rtlCol="0" anchor="ctr"/>
          <a:lstStyle/>
          <a:p>
            <a:pPr marL="0" indent="0">
              <a:buNone/>
            </a:pPr>
            <a:r>
              <a:rPr lang="en-US" sz="1550" b="1" dirty="0">
                <a:solidFill>
                  <a:srgbClr val="1B3A29"/>
                </a:solidFill>
                <a:latin typeface="Century Schoolbook" pitchFamily="34" charset="0"/>
                <a:ea typeface="Century Schoolbook" pitchFamily="34" charset="-122"/>
                <a:cs typeface="Century Schoolbook" pitchFamily="34" charset="-120"/>
              </a:rPr>
              <a:t>AlphaEarth Foundations</a:t>
            </a:r>
            <a:endParaRPr lang="en-US" sz="1550" dirty="0"/>
          </a:p>
        </p:txBody>
      </p:sp>
      <p:sp>
        <p:nvSpPr>
          <p:cNvPr id="45" name="Text 37"/>
          <p:cNvSpPr/>
          <p:nvPr/>
        </p:nvSpPr>
        <p:spPr>
          <a:xfrm>
            <a:off x="6256161" y="5038344"/>
            <a:ext cx="3011424" cy="411480"/>
          </a:xfrm>
          <a:prstGeom prst="rect">
            <a:avLst/>
          </a:prstGeom>
          <a:noFill/>
          <a:ln/>
        </p:spPr>
        <p:txBody>
          <a:bodyPr wrap="square" lIns="0" tIns="0" rIns="0" bIns="0" rtlCol="0" anchor="t"/>
          <a:lstStyle/>
          <a:p>
            <a:pPr marL="0" indent="0">
              <a:lnSpc>
                <a:spcPct val="104000"/>
              </a:lnSpc>
              <a:buNone/>
            </a:pPr>
            <a:r>
              <a:rPr lang="en-US" sz="1100" dirty="0">
                <a:solidFill>
                  <a:srgbClr val="47564C"/>
                </a:solidFill>
                <a:latin typeface="Calibri" pitchFamily="34" charset="0"/>
                <a:ea typeface="Calibri" pitchFamily="34" charset="-122"/>
                <a:cs typeface="Calibri" pitchFamily="34" charset="-120"/>
              </a:rPr>
              <a:t>Geospatial embeddings to generalize burn &amp; terrain understanding worldwide.</a:t>
            </a:r>
            <a:endParaRPr lang="en-US" sz="1100" dirty="0"/>
          </a:p>
        </p:txBody>
      </p:sp>
      <p:sp>
        <p:nvSpPr>
          <p:cNvPr id="46" name="Text 38"/>
          <p:cNvSpPr/>
          <p:nvPr/>
        </p:nvSpPr>
        <p:spPr>
          <a:xfrm>
            <a:off x="548640" y="5806440"/>
            <a:ext cx="11091672" cy="457200"/>
          </a:xfrm>
          <a:prstGeom prst="rect">
            <a:avLst/>
          </a:prstGeom>
          <a:noFill/>
          <a:ln/>
        </p:spPr>
        <p:txBody>
          <a:bodyPr wrap="square" lIns="0" tIns="0" rIns="0" bIns="0" rtlCol="0" anchor="ctr"/>
          <a:lstStyle/>
          <a:p>
            <a:pPr marL="0" indent="0" algn="ctr">
              <a:buNone/>
            </a:pPr>
            <a:r>
              <a:rPr lang="en-US" sz="1200" b="1" dirty="0">
                <a:solidFill>
                  <a:srgbClr val="2E7D4F"/>
                </a:solidFill>
                <a:latin typeface="Calibri" pitchFamily="34" charset="0"/>
                <a:ea typeface="Calibri" pitchFamily="34" charset="-122"/>
                <a:cs typeface="Calibri" pitchFamily="34" charset="-120"/>
              </a:rPr>
              <a:t>Open datasets on Earth Engine:  </a:t>
            </a:r>
            <a:r>
              <a:rPr lang="en-US" sz="1200" dirty="0">
                <a:solidFill>
                  <a:srgbClr val="47564C"/>
                </a:solidFill>
                <a:latin typeface="Calibri" pitchFamily="34" charset="0"/>
                <a:ea typeface="Calibri" pitchFamily="34" charset="-122"/>
                <a:cs typeface="Calibri" pitchFamily="34" charset="-120"/>
              </a:rPr>
              <a:t>Sentinel-2 · Landsat · SRTM · OpenLandMap · GPM IMERG · WorldPop · GHSL · TIGER · HydroSHEDS · USDA Cropland Data Layer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A"/>
        </a:solidFill>
        <a:effectLst/>
      </p:bgPr>
    </p:bg>
    <p:spTree>
      <p:nvGrpSpPr>
        <p:cNvPr id="1" name=""/>
        <p:cNvGrpSpPr/>
        <p:nvPr/>
      </p:nvGrpSpPr>
      <p:grpSpPr>
        <a:xfrm>
          <a:off x="0" y="0"/>
          <a:ext cx="0" cy="0"/>
          <a:chOff x="0" y="0"/>
          <a:chExt cx="0" cy="0"/>
        </a:xfrm>
      </p:grpSpPr>
      <p:sp>
        <p:nvSpPr>
          <p:cNvPr id="2" name="Text 0"/>
          <p:cNvSpPr/>
          <p:nvPr/>
        </p:nvSpPr>
        <p:spPr>
          <a:xfrm>
            <a:off x="548640" y="502920"/>
            <a:ext cx="10515600" cy="292608"/>
          </a:xfrm>
          <a:prstGeom prst="rect">
            <a:avLst/>
          </a:prstGeom>
          <a:noFill/>
          <a:ln/>
        </p:spPr>
        <p:txBody>
          <a:bodyPr wrap="square" lIns="0" tIns="0" rIns="0" bIns="0" rtlCol="0" anchor="ctr"/>
          <a:lstStyle/>
          <a:p>
            <a:pPr marL="0" indent="0" algn="l">
              <a:buNone/>
            </a:pPr>
            <a:r>
              <a:rPr lang="en-US" sz="1250" b="1" kern="0" spc="300" dirty="0">
                <a:solidFill>
                  <a:srgbClr val="C85A28"/>
                </a:solidFill>
                <a:latin typeface="Calibri" pitchFamily="34" charset="0"/>
                <a:ea typeface="Calibri" pitchFamily="34" charset="-122"/>
                <a:cs typeface="Calibri" pitchFamily="34" charset="-120"/>
              </a:rPr>
              <a:t>THE VALIDATION CASE</a:t>
            </a:r>
            <a:endParaRPr lang="en-US" sz="1250" dirty="0"/>
          </a:p>
        </p:txBody>
      </p:sp>
      <p:sp>
        <p:nvSpPr>
          <p:cNvPr id="3" name="Text 1"/>
          <p:cNvSpPr/>
          <p:nvPr/>
        </p:nvSpPr>
        <p:spPr>
          <a:xfrm>
            <a:off x="548640" y="868680"/>
            <a:ext cx="10972800" cy="914400"/>
          </a:xfrm>
          <a:prstGeom prst="rect">
            <a:avLst/>
          </a:prstGeom>
          <a:noFill/>
          <a:ln/>
        </p:spPr>
        <p:txBody>
          <a:bodyPr wrap="square" lIns="0" tIns="0" rIns="0" bIns="0" rtlCol="0" anchor="ctr"/>
          <a:lstStyle/>
          <a:p>
            <a:pPr marL="0" indent="0" algn="l">
              <a:lnSpc>
                <a:spcPct val="98000"/>
              </a:lnSpc>
              <a:buNone/>
            </a:pPr>
            <a:r>
              <a:rPr lang="en-US" sz="3300" b="1" dirty="0">
                <a:solidFill>
                  <a:srgbClr val="1B3A29"/>
                </a:solidFill>
                <a:latin typeface="Century Schoolbook" pitchFamily="34" charset="0"/>
                <a:ea typeface="Century Schoolbook" pitchFamily="34" charset="-122"/>
                <a:cs typeface="Century Schoolbook" pitchFamily="34" charset="-120"/>
              </a:rPr>
              <a:t>Our first test: replay Montecito, blind</a:t>
            </a:r>
            <a:endParaRPr lang="en-US" sz="3300" dirty="0"/>
          </a:p>
        </p:txBody>
      </p:sp>
      <p:sp>
        <p:nvSpPr>
          <p:cNvPr id="4" name="Text 2"/>
          <p:cNvSpPr/>
          <p:nvPr/>
        </p:nvSpPr>
        <p:spPr>
          <a:xfrm>
            <a:off x="548640" y="1783080"/>
            <a:ext cx="5852160" cy="1051560"/>
          </a:xfrm>
          <a:prstGeom prst="rect">
            <a:avLst/>
          </a:prstGeom>
          <a:noFill/>
          <a:ln/>
        </p:spPr>
        <p:txBody>
          <a:bodyPr wrap="square" lIns="0" tIns="0" rIns="0" bIns="0" rtlCol="0" anchor="t"/>
          <a:lstStyle/>
          <a:p>
            <a:pPr marL="0" indent="0">
              <a:lnSpc>
                <a:spcPct val="115000"/>
              </a:lnSpc>
              <a:buNone/>
            </a:pPr>
            <a:r>
              <a:rPr lang="en-US" sz="1450" dirty="0">
                <a:solidFill>
                  <a:srgbClr val="47564C"/>
                </a:solidFill>
                <a:latin typeface="Calibri" pitchFamily="34" charset="0"/>
                <a:ea typeface="Calibri" pitchFamily="34" charset="-122"/>
                <a:cs typeface="Calibri" pitchFamily="34" charset="-120"/>
              </a:rPr>
              <a:t>The benchmark: feed Alluvion </a:t>
            </a:r>
            <a:r>
              <a:rPr lang="en-US" sz="1450" b="1" dirty="0">
                <a:solidFill>
                  <a:srgbClr val="1B3A29"/>
                </a:solidFill>
                <a:latin typeface="Calibri" pitchFamily="34" charset="0"/>
                <a:ea typeface="Calibri" pitchFamily="34" charset="-122"/>
                <a:cs typeface="Calibri" pitchFamily="34" charset="-120"/>
              </a:rPr>
              <a:t>only data that existed before January 9, 2018</a:t>
            </a:r>
            <a:r>
              <a:rPr lang="en-US" sz="1450" dirty="0">
                <a:solidFill>
                  <a:srgbClr val="47564C"/>
                </a:solidFill>
                <a:latin typeface="Calibri" pitchFamily="34" charset="0"/>
                <a:ea typeface="Calibri" pitchFamily="34" charset="-122"/>
                <a:cs typeface="Calibri" pitchFamily="34" charset="-120"/>
              </a:rPr>
              <a:t> — no peeking. It should detect the burn scar, replay the real storm hour by hour, and raise a warning the moment rain crosses each basin's threshold.</a:t>
            </a:r>
            <a:endParaRPr lang="en-US" sz="1450" dirty="0"/>
          </a:p>
        </p:txBody>
      </p:sp>
      <p:sp>
        <p:nvSpPr>
          <p:cNvPr id="5" name="Shape 3"/>
          <p:cNvSpPr/>
          <p:nvPr/>
        </p:nvSpPr>
        <p:spPr>
          <a:xfrm>
            <a:off x="548640" y="2926080"/>
            <a:ext cx="548640" cy="548640"/>
          </a:xfrm>
          <a:prstGeom prst="ellipse">
            <a:avLst/>
          </a:prstGeom>
          <a:solidFill>
            <a:srgbClr val="C85A28"/>
          </a:solidFill>
          <a:ln/>
        </p:spPr>
      </p:sp>
      <p:pic>
        <p:nvPicPr>
          <p:cNvPr id="6" name="Image 0" descr="assets/ic_magnify_F0E8D7.png"/>
          <p:cNvPicPr>
            <a:picLocks noChangeAspect="1"/>
          </p:cNvPicPr>
          <p:nvPr/>
        </p:nvPicPr>
        <p:blipFill>
          <a:blip r:embed="rId3"/>
          <a:stretch>
            <a:fillRect/>
          </a:stretch>
        </p:blipFill>
        <p:spPr>
          <a:xfrm>
            <a:off x="680314" y="3057754"/>
            <a:ext cx="285293" cy="285293"/>
          </a:xfrm>
          <a:prstGeom prst="rect">
            <a:avLst/>
          </a:prstGeom>
        </p:spPr>
      </p:pic>
      <p:sp>
        <p:nvSpPr>
          <p:cNvPr id="7" name="Text 4"/>
          <p:cNvSpPr/>
          <p:nvPr/>
        </p:nvSpPr>
        <p:spPr>
          <a:xfrm>
            <a:off x="1261872" y="2907792"/>
            <a:ext cx="5029200" cy="292608"/>
          </a:xfrm>
          <a:prstGeom prst="rect">
            <a:avLst/>
          </a:prstGeom>
          <a:noFill/>
          <a:ln/>
        </p:spPr>
        <p:txBody>
          <a:bodyPr wrap="square" lIns="0" tIns="0" rIns="0" bIns="0" rtlCol="0" anchor="ctr"/>
          <a:lstStyle/>
          <a:p>
            <a:pPr marL="0" indent="0">
              <a:buNone/>
            </a:pPr>
            <a:r>
              <a:rPr lang="en-US" sz="1500" b="1" dirty="0">
                <a:solidFill>
                  <a:srgbClr val="1B3A29"/>
                </a:solidFill>
                <a:latin typeface="Century Schoolbook" pitchFamily="34" charset="0"/>
                <a:ea typeface="Century Schoolbook" pitchFamily="34" charset="-122"/>
                <a:cs typeface="Century Schoolbook" pitchFamily="34" charset="-120"/>
              </a:rPr>
              <a:t>Detect</a:t>
            </a:r>
            <a:endParaRPr lang="en-US" sz="1500" dirty="0"/>
          </a:p>
        </p:txBody>
      </p:sp>
      <p:sp>
        <p:nvSpPr>
          <p:cNvPr id="8" name="Text 5"/>
          <p:cNvSpPr/>
          <p:nvPr/>
        </p:nvSpPr>
        <p:spPr>
          <a:xfrm>
            <a:off x="1261872" y="3218688"/>
            <a:ext cx="5029200" cy="548640"/>
          </a:xfrm>
          <a:prstGeom prst="rect">
            <a:avLst/>
          </a:prstGeom>
          <a:noFill/>
          <a:ln/>
        </p:spPr>
        <p:txBody>
          <a:bodyPr wrap="square" lIns="0" tIns="0" rIns="0" bIns="0" rtlCol="0" anchor="t"/>
          <a:lstStyle/>
          <a:p>
            <a:pPr marL="0" indent="0">
              <a:lnSpc>
                <a:spcPct val="106000"/>
              </a:lnSpc>
              <a:buNone/>
            </a:pPr>
            <a:r>
              <a:rPr lang="en-US" sz="1200" dirty="0">
                <a:solidFill>
                  <a:srgbClr val="47564C"/>
                </a:solidFill>
                <a:latin typeface="Calibri" pitchFamily="34" charset="0"/>
                <a:ea typeface="Calibri" pitchFamily="34" charset="-122"/>
                <a:cs typeface="Calibri" pitchFamily="34" charset="-120"/>
              </a:rPr>
              <a:t>Burn scar and the five dangerous creeks, from before/after imagery.</a:t>
            </a:r>
            <a:endParaRPr lang="en-US" sz="1200" dirty="0"/>
          </a:p>
        </p:txBody>
      </p:sp>
      <p:sp>
        <p:nvSpPr>
          <p:cNvPr id="9" name="Shape 6"/>
          <p:cNvSpPr/>
          <p:nvPr/>
        </p:nvSpPr>
        <p:spPr>
          <a:xfrm>
            <a:off x="822960" y="3493008"/>
            <a:ext cx="0" cy="411480"/>
          </a:xfrm>
          <a:prstGeom prst="line">
            <a:avLst/>
          </a:prstGeom>
          <a:noFill/>
          <a:ln w="19050">
            <a:solidFill>
              <a:srgbClr val="E7E4DA"/>
            </a:solidFill>
            <a:prstDash val="solid"/>
          </a:ln>
        </p:spPr>
      </p:sp>
      <p:sp>
        <p:nvSpPr>
          <p:cNvPr id="10" name="Shape 7"/>
          <p:cNvSpPr/>
          <p:nvPr/>
        </p:nvSpPr>
        <p:spPr>
          <a:xfrm>
            <a:off x="548640" y="3886200"/>
            <a:ext cx="548640" cy="548640"/>
          </a:xfrm>
          <a:prstGeom prst="ellipse">
            <a:avLst/>
          </a:prstGeom>
          <a:solidFill>
            <a:srgbClr val="C85A28"/>
          </a:solidFill>
          <a:ln/>
        </p:spPr>
      </p:sp>
      <p:pic>
        <p:nvPicPr>
          <p:cNvPr id="11" name="Image 1" descr="assets/ic_cloud_F0E8D7.png"/>
          <p:cNvPicPr>
            <a:picLocks noChangeAspect="1"/>
          </p:cNvPicPr>
          <p:nvPr/>
        </p:nvPicPr>
        <p:blipFill>
          <a:blip r:embed="rId4"/>
          <a:stretch>
            <a:fillRect/>
          </a:stretch>
        </p:blipFill>
        <p:spPr>
          <a:xfrm>
            <a:off x="680314" y="4017874"/>
            <a:ext cx="285293" cy="285293"/>
          </a:xfrm>
          <a:prstGeom prst="rect">
            <a:avLst/>
          </a:prstGeom>
        </p:spPr>
      </p:pic>
      <p:sp>
        <p:nvSpPr>
          <p:cNvPr id="12" name="Text 8"/>
          <p:cNvSpPr/>
          <p:nvPr/>
        </p:nvSpPr>
        <p:spPr>
          <a:xfrm>
            <a:off x="1261872" y="3867912"/>
            <a:ext cx="5029200" cy="292608"/>
          </a:xfrm>
          <a:prstGeom prst="rect">
            <a:avLst/>
          </a:prstGeom>
          <a:noFill/>
          <a:ln/>
        </p:spPr>
        <p:txBody>
          <a:bodyPr wrap="square" lIns="0" tIns="0" rIns="0" bIns="0" rtlCol="0" anchor="ctr"/>
          <a:lstStyle/>
          <a:p>
            <a:pPr marL="0" indent="0">
              <a:buNone/>
            </a:pPr>
            <a:r>
              <a:rPr lang="en-US" sz="1500" b="1" dirty="0">
                <a:solidFill>
                  <a:srgbClr val="1B3A29"/>
                </a:solidFill>
                <a:latin typeface="Century Schoolbook" pitchFamily="34" charset="0"/>
                <a:ea typeface="Century Schoolbook" pitchFamily="34" charset="-122"/>
                <a:cs typeface="Century Schoolbook" pitchFamily="34" charset="-120"/>
              </a:rPr>
              <a:t>Replay the real storm</a:t>
            </a:r>
            <a:endParaRPr lang="en-US" sz="1500" dirty="0"/>
          </a:p>
        </p:txBody>
      </p:sp>
      <p:sp>
        <p:nvSpPr>
          <p:cNvPr id="13" name="Text 9"/>
          <p:cNvSpPr/>
          <p:nvPr/>
        </p:nvSpPr>
        <p:spPr>
          <a:xfrm>
            <a:off x="1261872" y="4178808"/>
            <a:ext cx="5029200" cy="548640"/>
          </a:xfrm>
          <a:prstGeom prst="rect">
            <a:avLst/>
          </a:prstGeom>
          <a:noFill/>
          <a:ln/>
        </p:spPr>
        <p:txBody>
          <a:bodyPr wrap="square" lIns="0" tIns="0" rIns="0" bIns="0" rtlCol="0" anchor="t"/>
          <a:lstStyle/>
          <a:p>
            <a:pPr marL="0" indent="0">
              <a:lnSpc>
                <a:spcPct val="106000"/>
              </a:lnSpc>
              <a:buNone/>
            </a:pPr>
            <a:r>
              <a:rPr lang="en-US" sz="1200" dirty="0">
                <a:solidFill>
                  <a:srgbClr val="47564C"/>
                </a:solidFill>
                <a:latin typeface="Calibri" pitchFamily="34" charset="0"/>
                <a:ea typeface="Calibri" pitchFamily="34" charset="-122"/>
                <a:cs typeface="Calibri" pitchFamily="34" charset="-120"/>
              </a:rPr>
              <a:t>The actual rainfall that night, climbing to its true 4:30 AM peak.</a:t>
            </a:r>
            <a:endParaRPr lang="en-US" sz="1200" dirty="0"/>
          </a:p>
        </p:txBody>
      </p:sp>
      <p:sp>
        <p:nvSpPr>
          <p:cNvPr id="14" name="Shape 10"/>
          <p:cNvSpPr/>
          <p:nvPr/>
        </p:nvSpPr>
        <p:spPr>
          <a:xfrm>
            <a:off x="822960" y="4453128"/>
            <a:ext cx="0" cy="411480"/>
          </a:xfrm>
          <a:prstGeom prst="line">
            <a:avLst/>
          </a:prstGeom>
          <a:noFill/>
          <a:ln w="19050">
            <a:solidFill>
              <a:srgbClr val="E7E4DA"/>
            </a:solidFill>
            <a:prstDash val="solid"/>
          </a:ln>
        </p:spPr>
      </p:sp>
      <p:sp>
        <p:nvSpPr>
          <p:cNvPr id="15" name="Shape 11"/>
          <p:cNvSpPr/>
          <p:nvPr/>
        </p:nvSpPr>
        <p:spPr>
          <a:xfrm>
            <a:off x="548640" y="4846320"/>
            <a:ext cx="548640" cy="548640"/>
          </a:xfrm>
          <a:prstGeom prst="ellipse">
            <a:avLst/>
          </a:prstGeom>
          <a:solidFill>
            <a:srgbClr val="2E7D4F"/>
          </a:solidFill>
          <a:ln/>
        </p:spPr>
      </p:sp>
      <p:pic>
        <p:nvPicPr>
          <p:cNvPr id="16" name="Image 2" descr="assets/ic_alert_F0E8D7.png"/>
          <p:cNvPicPr>
            <a:picLocks noChangeAspect="1"/>
          </p:cNvPicPr>
          <p:nvPr/>
        </p:nvPicPr>
        <p:blipFill>
          <a:blip r:embed="rId5"/>
          <a:stretch>
            <a:fillRect/>
          </a:stretch>
        </p:blipFill>
        <p:spPr>
          <a:xfrm>
            <a:off x="680314" y="4977994"/>
            <a:ext cx="285293" cy="285293"/>
          </a:xfrm>
          <a:prstGeom prst="rect">
            <a:avLst/>
          </a:prstGeom>
        </p:spPr>
      </p:pic>
      <p:sp>
        <p:nvSpPr>
          <p:cNvPr id="17" name="Text 12"/>
          <p:cNvSpPr/>
          <p:nvPr/>
        </p:nvSpPr>
        <p:spPr>
          <a:xfrm>
            <a:off x="1261872" y="4828032"/>
            <a:ext cx="5029200" cy="292608"/>
          </a:xfrm>
          <a:prstGeom prst="rect">
            <a:avLst/>
          </a:prstGeom>
          <a:noFill/>
          <a:ln/>
        </p:spPr>
        <p:txBody>
          <a:bodyPr wrap="square" lIns="0" tIns="0" rIns="0" bIns="0" rtlCol="0" anchor="ctr"/>
          <a:lstStyle/>
          <a:p>
            <a:pPr marL="0" indent="0">
              <a:buNone/>
            </a:pPr>
            <a:r>
              <a:rPr lang="en-US" sz="1500" b="1" dirty="0">
                <a:solidFill>
                  <a:srgbClr val="1B3A29"/>
                </a:solidFill>
                <a:latin typeface="Century Schoolbook" pitchFamily="34" charset="0"/>
                <a:ea typeface="Century Schoolbook" pitchFamily="34" charset="-122"/>
                <a:cs typeface="Century Schoolbook" pitchFamily="34" charset="-120"/>
              </a:rPr>
              <a:t>Warn ahead of the flows</a:t>
            </a:r>
            <a:endParaRPr lang="en-US" sz="1500" dirty="0"/>
          </a:p>
        </p:txBody>
      </p:sp>
      <p:sp>
        <p:nvSpPr>
          <p:cNvPr id="18" name="Text 13"/>
          <p:cNvSpPr/>
          <p:nvPr/>
        </p:nvSpPr>
        <p:spPr>
          <a:xfrm>
            <a:off x="1261872" y="5138928"/>
            <a:ext cx="5029200" cy="548640"/>
          </a:xfrm>
          <a:prstGeom prst="rect">
            <a:avLst/>
          </a:prstGeom>
          <a:noFill/>
          <a:ln/>
        </p:spPr>
        <p:txBody>
          <a:bodyPr wrap="square" lIns="0" tIns="0" rIns="0" bIns="0" rtlCol="0" anchor="t"/>
          <a:lstStyle/>
          <a:p>
            <a:pPr marL="0" indent="0">
              <a:lnSpc>
                <a:spcPct val="106000"/>
              </a:lnSpc>
              <a:buNone/>
            </a:pPr>
            <a:r>
              <a:rPr lang="en-US" sz="1200" dirty="0">
                <a:solidFill>
                  <a:srgbClr val="47564C"/>
                </a:solidFill>
                <a:latin typeface="Calibri" pitchFamily="34" charset="0"/>
                <a:ea typeface="Calibri" pitchFamily="34" charset="-122"/>
                <a:cs typeface="Calibri" pitchFamily="34" charset="-120"/>
              </a:rPr>
              <a:t>The bar: flag the four eastern creeks well before the flows arrive.</a:t>
            </a:r>
            <a:endParaRPr lang="en-US" sz="1200" dirty="0"/>
          </a:p>
        </p:txBody>
      </p:sp>
      <p:sp>
        <p:nvSpPr>
          <p:cNvPr id="24" name="Text 18"/>
          <p:cNvSpPr/>
          <p:nvPr/>
        </p:nvSpPr>
        <p:spPr>
          <a:xfrm>
            <a:off x="1261872" y="5852160"/>
            <a:ext cx="5029200" cy="365760"/>
          </a:xfrm>
          <a:prstGeom prst="rect">
            <a:avLst/>
          </a:prstGeom>
          <a:noFill/>
          <a:ln/>
        </p:spPr>
        <p:txBody>
          <a:bodyPr wrap="square" lIns="0" tIns="0" rIns="0" bIns="0" rtlCol="0" anchor="t"/>
          <a:lstStyle/>
          <a:p>
            <a:pPr marL="0" indent="0">
              <a:buNone/>
            </a:pPr>
            <a:r>
              <a:rPr lang="en-US" sz="1200" i="1" dirty="0">
                <a:solidFill>
                  <a:srgbClr val="47564C"/>
                </a:solidFill>
                <a:latin typeface="Calibri" pitchFamily="34" charset="0"/>
                <a:ea typeface="Calibri" pitchFamily="34" charset="-122"/>
                <a:cs typeface="Calibri" pitchFamily="34" charset="-120"/>
              </a:rPr>
              <a:t>Montecito is the first of five blind replays — Station Fire, Dolan, CZU Lightning Complex and Holy Fire follow the same test.</a:t>
            </a:r>
            <a:endParaRPr lang="en-US" sz="1200" i="1" dirty="0"/>
          </a:p>
        </p:txBody>
      </p:sp>
      <p:pic>
        <p:nvPicPr>
          <p:cNvPr id="19" name="Image 3" descr="assets/cap_radar_c.png"/>
          <p:cNvPicPr>
            <a:picLocks noChangeAspect="1"/>
          </p:cNvPicPr>
          <p:nvPr/>
        </p:nvPicPr>
        <p:blipFill>
          <a:blip r:embed="rId6"/>
          <a:stretch>
            <a:fillRect/>
          </a:stretch>
        </p:blipFill>
        <p:spPr>
          <a:xfrm>
            <a:off x="6720840" y="1874520"/>
            <a:ext cx="4919472" cy="2313432"/>
          </a:xfrm>
          <a:prstGeom prst="rect">
            <a:avLst/>
          </a:prstGeom>
          <a:effectLst>
            <a:outerShdw blurRad="165100" dist="38100" dir="5400000" algn="bl" rotWithShape="0">
              <a:srgbClr val="2B3B30">
                <a:alpha val="22000"/>
              </a:srgbClr>
            </a:outerShdw>
          </a:effectLst>
        </p:spPr>
      </p:pic>
      <p:sp>
        <p:nvSpPr>
          <p:cNvPr id="20" name="Shape 14"/>
          <p:cNvSpPr/>
          <p:nvPr/>
        </p:nvSpPr>
        <p:spPr>
          <a:xfrm>
            <a:off x="6720840" y="4572000"/>
            <a:ext cx="4919472" cy="1737360"/>
          </a:xfrm>
          <a:prstGeom prst="roundRect">
            <a:avLst>
              <a:gd name="adj" fmla="val 5789"/>
            </a:avLst>
          </a:prstGeom>
          <a:solidFill>
            <a:srgbClr val="F8E9DE"/>
          </a:solidFill>
          <a:ln/>
        </p:spPr>
      </p:sp>
      <p:sp>
        <p:nvSpPr>
          <p:cNvPr id="21" name="Text 15"/>
          <p:cNvSpPr/>
          <p:nvPr/>
        </p:nvSpPr>
        <p:spPr>
          <a:xfrm>
            <a:off x="7040880" y="4709160"/>
            <a:ext cx="4279392" cy="594360"/>
          </a:xfrm>
          <a:prstGeom prst="rect">
            <a:avLst/>
          </a:prstGeom>
          <a:noFill/>
          <a:ln/>
        </p:spPr>
        <p:txBody>
          <a:bodyPr wrap="square" lIns="0" tIns="0" rIns="0" bIns="0" rtlCol="0" anchor="ctr"/>
          <a:lstStyle/>
          <a:p>
            <a:pPr marL="0" indent="0">
              <a:buNone/>
            </a:pPr>
            <a:r>
              <a:rPr lang="en-US" sz="4000" b="1" dirty="0">
                <a:solidFill>
                  <a:srgbClr val="C85A28"/>
                </a:solidFill>
                <a:latin typeface="Century Schoolbook" pitchFamily="34" charset="0"/>
                <a:ea typeface="Century Schoolbook" pitchFamily="34" charset="-122"/>
                <a:cs typeface="Century Schoolbook" pitchFamily="34" charset="-120"/>
              </a:rPr>
              <a:t>≈ 12.5 hours</a:t>
            </a:r>
            <a:endParaRPr lang="en-US" sz="4000" dirty="0"/>
          </a:p>
        </p:txBody>
      </p:sp>
      <p:sp>
        <p:nvSpPr>
          <p:cNvPr id="22" name="Text 16"/>
          <p:cNvSpPr/>
          <p:nvPr/>
        </p:nvSpPr>
        <p:spPr>
          <a:xfrm>
            <a:off x="7068312" y="5321808"/>
            <a:ext cx="4279392" cy="320040"/>
          </a:xfrm>
          <a:prstGeom prst="rect">
            <a:avLst/>
          </a:prstGeom>
          <a:noFill/>
          <a:ln/>
        </p:spPr>
        <p:txBody>
          <a:bodyPr wrap="square" lIns="0" tIns="0" rIns="0" bIns="0" rtlCol="0" anchor="ctr"/>
          <a:lstStyle/>
          <a:p>
            <a:pPr marL="0" indent="0">
              <a:buNone/>
            </a:pPr>
            <a:r>
              <a:rPr lang="en-US" sz="1300" b="1" dirty="0">
                <a:solidFill>
                  <a:srgbClr val="1B3A29"/>
                </a:solidFill>
                <a:latin typeface="Calibri" pitchFamily="34" charset="0"/>
                <a:ea typeface="Calibri" pitchFamily="34" charset="-122"/>
                <a:cs typeface="Calibri" pitchFamily="34" charset="-120"/>
              </a:rPr>
              <a:t>of lead time the physics makes available</a:t>
            </a:r>
            <a:endParaRPr lang="en-US" sz="1300" dirty="0"/>
          </a:p>
        </p:txBody>
      </p:sp>
      <p:sp>
        <p:nvSpPr>
          <p:cNvPr id="23" name="Text 17"/>
          <p:cNvSpPr/>
          <p:nvPr/>
        </p:nvSpPr>
        <p:spPr>
          <a:xfrm>
            <a:off x="7068312" y="5650992"/>
            <a:ext cx="4233672" cy="603504"/>
          </a:xfrm>
          <a:prstGeom prst="rect">
            <a:avLst/>
          </a:prstGeom>
          <a:noFill/>
          <a:ln/>
        </p:spPr>
        <p:txBody>
          <a:bodyPr wrap="square" lIns="0" tIns="0" rIns="0" bIns="0" rtlCol="0" anchor="t"/>
          <a:lstStyle/>
          <a:p>
            <a:pPr marL="0" indent="0">
              <a:lnSpc>
                <a:spcPct val="106000"/>
              </a:lnSpc>
              <a:buNone/>
            </a:pPr>
            <a:r>
              <a:rPr lang="en-US" sz="1150" dirty="0">
                <a:solidFill>
                  <a:srgbClr val="47564C"/>
                </a:solidFill>
                <a:latin typeface="Calibri" pitchFamily="34" charset="0"/>
                <a:ea typeface="Calibri" pitchFamily="34" charset="-122"/>
                <a:cs typeface="Calibri" pitchFamily="34" charset="-120"/>
              </a:rPr>
              <a:t>The window between rain crossing the danger threshold and the flows hitting — the head start Alluvion is designed to turn into evacuations and road closures.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A"/>
        </a:solidFill>
        <a:effectLst/>
      </p:bgPr>
    </p:bg>
    <p:spTree>
      <p:nvGrpSpPr>
        <p:cNvPr id="1" name=""/>
        <p:cNvGrpSpPr/>
        <p:nvPr/>
      </p:nvGrpSpPr>
      <p:grpSpPr>
        <a:xfrm>
          <a:off x="0" y="0"/>
          <a:ext cx="0" cy="0"/>
          <a:chOff x="0" y="0"/>
          <a:chExt cx="0" cy="0"/>
        </a:xfrm>
      </p:grpSpPr>
      <p:sp>
        <p:nvSpPr>
          <p:cNvPr id="2" name="Text 0"/>
          <p:cNvSpPr/>
          <p:nvPr/>
        </p:nvSpPr>
        <p:spPr>
          <a:xfrm>
            <a:off x="548640" y="502920"/>
            <a:ext cx="10515600" cy="292608"/>
          </a:xfrm>
          <a:prstGeom prst="rect">
            <a:avLst/>
          </a:prstGeom>
          <a:noFill/>
          <a:ln/>
        </p:spPr>
        <p:txBody>
          <a:bodyPr wrap="square" lIns="0" tIns="0" rIns="0" bIns="0" rtlCol="0" anchor="ctr"/>
          <a:lstStyle/>
          <a:p>
            <a:pPr marL="0" indent="0" algn="l">
              <a:buNone/>
            </a:pPr>
            <a:r>
              <a:rPr lang="en-US" sz="1250" b="1" kern="0" spc="300" dirty="0">
                <a:solidFill>
                  <a:srgbClr val="C85A28"/>
                </a:solidFill>
                <a:latin typeface="Calibri" pitchFamily="34" charset="0"/>
                <a:ea typeface="Calibri" pitchFamily="34" charset="-122"/>
                <a:cs typeface="Calibri" pitchFamily="34" charset="-120"/>
              </a:rPr>
              <a:t>THE PAYOFF</a:t>
            </a:r>
            <a:endParaRPr lang="en-US" sz="1250" dirty="0"/>
          </a:p>
        </p:txBody>
      </p:sp>
      <p:sp>
        <p:nvSpPr>
          <p:cNvPr id="3" name="Text 1"/>
          <p:cNvSpPr/>
          <p:nvPr/>
        </p:nvSpPr>
        <p:spPr>
          <a:xfrm>
            <a:off x="548640" y="868680"/>
            <a:ext cx="10789920" cy="914400"/>
          </a:xfrm>
          <a:prstGeom prst="rect">
            <a:avLst/>
          </a:prstGeom>
          <a:noFill/>
          <a:ln/>
        </p:spPr>
        <p:txBody>
          <a:bodyPr wrap="square" lIns="0" tIns="0" rIns="0" bIns="0" rtlCol="0" anchor="ctr"/>
          <a:lstStyle/>
          <a:p>
            <a:pPr marL="0" indent="0" algn="l">
              <a:lnSpc>
                <a:spcPct val="98000"/>
              </a:lnSpc>
              <a:buNone/>
            </a:pPr>
            <a:r>
              <a:rPr lang="en-US" sz="3400" b="1" dirty="0">
                <a:solidFill>
                  <a:srgbClr val="1B3A29"/>
                </a:solidFill>
                <a:latin typeface="Century Schoolbook" pitchFamily="34" charset="0"/>
                <a:ea typeface="Century Schoolbook" pitchFamily="34" charset="-122"/>
                <a:cs typeface="Century Schoolbook" pitchFamily="34" charset="-120"/>
              </a:rPr>
              <a:t>Turning lead time into targeted action</a:t>
            </a:r>
            <a:endParaRPr lang="en-US" sz="3400" dirty="0"/>
          </a:p>
        </p:txBody>
      </p:sp>
      <p:sp>
        <p:nvSpPr>
          <p:cNvPr id="4" name="Shape 2"/>
          <p:cNvSpPr/>
          <p:nvPr/>
        </p:nvSpPr>
        <p:spPr>
          <a:xfrm>
            <a:off x="548640" y="1828800"/>
            <a:ext cx="5385816" cy="1691640"/>
          </a:xfrm>
          <a:prstGeom prst="roundRect">
            <a:avLst>
              <a:gd name="adj" fmla="val 5946"/>
            </a:avLst>
          </a:prstGeom>
          <a:solidFill>
            <a:srgbClr val="F8E9DE"/>
          </a:solidFill>
          <a:ln/>
        </p:spPr>
      </p:sp>
      <p:sp>
        <p:nvSpPr>
          <p:cNvPr id="5" name="Shape 3"/>
          <p:cNvSpPr/>
          <p:nvPr/>
        </p:nvSpPr>
        <p:spPr>
          <a:xfrm>
            <a:off x="868680" y="2212848"/>
            <a:ext cx="731520" cy="731520"/>
          </a:xfrm>
          <a:prstGeom prst="ellipse">
            <a:avLst/>
          </a:prstGeom>
          <a:solidFill>
            <a:srgbClr val="C85A28"/>
          </a:solidFill>
          <a:ln/>
        </p:spPr>
      </p:sp>
      <p:pic>
        <p:nvPicPr>
          <p:cNvPr id="6" name="Image 0" descr="assets/ic_clock_F0E8D7.png"/>
          <p:cNvPicPr>
            <a:picLocks noChangeAspect="1"/>
          </p:cNvPicPr>
          <p:nvPr/>
        </p:nvPicPr>
        <p:blipFill>
          <a:blip r:embed="rId3"/>
          <a:stretch>
            <a:fillRect/>
          </a:stretch>
        </p:blipFill>
        <p:spPr>
          <a:xfrm>
            <a:off x="1044245" y="2388413"/>
            <a:ext cx="380390" cy="380390"/>
          </a:xfrm>
          <a:prstGeom prst="rect">
            <a:avLst/>
          </a:prstGeom>
        </p:spPr>
      </p:pic>
      <p:sp>
        <p:nvSpPr>
          <p:cNvPr id="7" name="Text 4"/>
          <p:cNvSpPr/>
          <p:nvPr/>
        </p:nvSpPr>
        <p:spPr>
          <a:xfrm>
            <a:off x="1828800" y="2139696"/>
            <a:ext cx="3831336" cy="365760"/>
          </a:xfrm>
          <a:prstGeom prst="rect">
            <a:avLst/>
          </a:prstGeom>
          <a:noFill/>
          <a:ln/>
        </p:spPr>
        <p:txBody>
          <a:bodyPr wrap="square" lIns="0" tIns="0" rIns="0" bIns="0" rtlCol="0" anchor="ctr"/>
          <a:lstStyle/>
          <a:p>
            <a:pPr marL="0" indent="0">
              <a:buNone/>
            </a:pPr>
            <a:r>
              <a:rPr lang="en-US" sz="1800" b="1" dirty="0">
                <a:solidFill>
                  <a:srgbClr val="1B3A29"/>
                </a:solidFill>
                <a:latin typeface="Century Schoolbook" pitchFamily="34" charset="0"/>
                <a:ea typeface="Century Schoolbook" pitchFamily="34" charset="-122"/>
                <a:cs typeface="Century Schoolbook" pitchFamily="34" charset="-120"/>
              </a:rPr>
              <a:t>Buys lead time</a:t>
            </a:r>
            <a:endParaRPr lang="en-US" sz="1800" dirty="0"/>
          </a:p>
        </p:txBody>
      </p:sp>
      <p:sp>
        <p:nvSpPr>
          <p:cNvPr id="8" name="Text 5"/>
          <p:cNvSpPr/>
          <p:nvPr/>
        </p:nvSpPr>
        <p:spPr>
          <a:xfrm>
            <a:off x="1828800" y="2542032"/>
            <a:ext cx="3831336" cy="822960"/>
          </a:xfrm>
          <a:prstGeom prst="rect">
            <a:avLst/>
          </a:prstGeom>
          <a:noFill/>
          <a:ln/>
        </p:spPr>
        <p:txBody>
          <a:bodyPr wrap="square" lIns="0" tIns="0" rIns="0" bIns="0" rtlCol="0" anchor="t"/>
          <a:lstStyle/>
          <a:p>
            <a:pPr marL="0" indent="0">
              <a:lnSpc>
                <a:spcPct val="110000"/>
              </a:lnSpc>
              <a:buNone/>
            </a:pPr>
            <a:r>
              <a:rPr lang="en-US" sz="1250" dirty="0">
                <a:solidFill>
                  <a:srgbClr val="47564C"/>
                </a:solidFill>
                <a:latin typeface="Calibri" pitchFamily="34" charset="0"/>
                <a:ea typeface="Calibri" pitchFamily="34" charset="-122"/>
                <a:cs typeface="Calibri" pitchFamily="34" charset="-120"/>
              </a:rPr>
              <a:t>Evacuate the right neighborhoods, close the right roads and pre-stage debris basins — hours to days ahead.</a:t>
            </a:r>
            <a:endParaRPr lang="en-US" sz="1250" dirty="0"/>
          </a:p>
        </p:txBody>
      </p:sp>
      <p:sp>
        <p:nvSpPr>
          <p:cNvPr id="9" name="Shape 6"/>
          <p:cNvSpPr/>
          <p:nvPr/>
        </p:nvSpPr>
        <p:spPr>
          <a:xfrm>
            <a:off x="6254496" y="1828800"/>
            <a:ext cx="5385816" cy="1691640"/>
          </a:xfrm>
          <a:prstGeom prst="roundRect">
            <a:avLst>
              <a:gd name="adj" fmla="val 5946"/>
            </a:avLst>
          </a:prstGeom>
          <a:solidFill>
            <a:srgbClr val="E9F1EA"/>
          </a:solidFill>
          <a:ln/>
        </p:spPr>
      </p:sp>
      <p:sp>
        <p:nvSpPr>
          <p:cNvPr id="10" name="Shape 7"/>
          <p:cNvSpPr/>
          <p:nvPr/>
        </p:nvSpPr>
        <p:spPr>
          <a:xfrm>
            <a:off x="6574536" y="2212848"/>
            <a:ext cx="731520" cy="731520"/>
          </a:xfrm>
          <a:prstGeom prst="ellipse">
            <a:avLst/>
          </a:prstGeom>
          <a:solidFill>
            <a:srgbClr val="2E7D4F"/>
          </a:solidFill>
          <a:ln/>
        </p:spPr>
      </p:sp>
      <p:pic>
        <p:nvPicPr>
          <p:cNvPr id="11" name="Image 1" descr="assets/ic_magnify_F0E8D7.png"/>
          <p:cNvPicPr>
            <a:picLocks noChangeAspect="1"/>
          </p:cNvPicPr>
          <p:nvPr/>
        </p:nvPicPr>
        <p:blipFill>
          <a:blip r:embed="rId4"/>
          <a:stretch>
            <a:fillRect/>
          </a:stretch>
        </p:blipFill>
        <p:spPr>
          <a:xfrm>
            <a:off x="6750101" y="2388413"/>
            <a:ext cx="380390" cy="380390"/>
          </a:xfrm>
          <a:prstGeom prst="rect">
            <a:avLst/>
          </a:prstGeom>
        </p:spPr>
      </p:pic>
      <p:sp>
        <p:nvSpPr>
          <p:cNvPr id="12" name="Text 8"/>
          <p:cNvSpPr/>
          <p:nvPr/>
        </p:nvSpPr>
        <p:spPr>
          <a:xfrm>
            <a:off x="7534656" y="2139696"/>
            <a:ext cx="3831336" cy="365760"/>
          </a:xfrm>
          <a:prstGeom prst="rect">
            <a:avLst/>
          </a:prstGeom>
          <a:noFill/>
          <a:ln/>
        </p:spPr>
        <p:txBody>
          <a:bodyPr wrap="square" lIns="0" tIns="0" rIns="0" bIns="0" rtlCol="0" anchor="ctr"/>
          <a:lstStyle/>
          <a:p>
            <a:pPr marL="0" indent="0">
              <a:buNone/>
            </a:pPr>
            <a:r>
              <a:rPr lang="en-US" sz="1800" b="1" dirty="0">
                <a:solidFill>
                  <a:srgbClr val="1B3A29"/>
                </a:solidFill>
                <a:latin typeface="Century Schoolbook" pitchFamily="34" charset="0"/>
                <a:ea typeface="Century Schoolbook" pitchFamily="34" charset="-122"/>
                <a:cs typeface="Century Schoolbook" pitchFamily="34" charset="-120"/>
              </a:rPr>
              <a:t>Focuses scarce resources</a:t>
            </a:r>
            <a:endParaRPr lang="en-US" sz="1800" dirty="0"/>
          </a:p>
        </p:txBody>
      </p:sp>
      <p:sp>
        <p:nvSpPr>
          <p:cNvPr id="13" name="Text 9"/>
          <p:cNvSpPr/>
          <p:nvPr/>
        </p:nvSpPr>
        <p:spPr>
          <a:xfrm>
            <a:off x="7534656" y="2542032"/>
            <a:ext cx="3831336" cy="822960"/>
          </a:xfrm>
          <a:prstGeom prst="rect">
            <a:avLst/>
          </a:prstGeom>
          <a:noFill/>
          <a:ln/>
        </p:spPr>
        <p:txBody>
          <a:bodyPr wrap="square" lIns="0" tIns="0" rIns="0" bIns="0" rtlCol="0" anchor="t"/>
          <a:lstStyle/>
          <a:p>
            <a:pPr marL="0" indent="0">
              <a:lnSpc>
                <a:spcPct val="110000"/>
              </a:lnSpc>
              <a:buNone/>
            </a:pPr>
            <a:r>
              <a:rPr lang="en-US" sz="1250" dirty="0">
                <a:solidFill>
                  <a:srgbClr val="47564C"/>
                </a:solidFill>
                <a:latin typeface="Calibri" pitchFamily="34" charset="0"/>
                <a:ea typeface="Calibri" pitchFamily="34" charset="-122"/>
                <a:cs typeface="Calibri" pitchFamily="34" charset="-120"/>
              </a:rPr>
              <a:t>Flags the handful of burns that combine high hazard with real things worth protecting downstream.</a:t>
            </a:r>
            <a:endParaRPr lang="en-US" sz="1250" dirty="0"/>
          </a:p>
        </p:txBody>
      </p:sp>
      <p:sp>
        <p:nvSpPr>
          <p:cNvPr id="14" name="Shape 10"/>
          <p:cNvSpPr/>
          <p:nvPr/>
        </p:nvSpPr>
        <p:spPr>
          <a:xfrm>
            <a:off x="548640" y="3794760"/>
            <a:ext cx="5385816" cy="1691640"/>
          </a:xfrm>
          <a:prstGeom prst="roundRect">
            <a:avLst>
              <a:gd name="adj" fmla="val 5946"/>
            </a:avLst>
          </a:prstGeom>
          <a:solidFill>
            <a:srgbClr val="E9F1EA"/>
          </a:solidFill>
          <a:ln/>
        </p:spPr>
      </p:sp>
      <p:sp>
        <p:nvSpPr>
          <p:cNvPr id="15" name="Shape 11"/>
          <p:cNvSpPr/>
          <p:nvPr/>
        </p:nvSpPr>
        <p:spPr>
          <a:xfrm>
            <a:off x="868680" y="4178808"/>
            <a:ext cx="731520" cy="731520"/>
          </a:xfrm>
          <a:prstGeom prst="ellipse">
            <a:avLst/>
          </a:prstGeom>
          <a:solidFill>
            <a:srgbClr val="2E7D4F"/>
          </a:solidFill>
          <a:ln/>
        </p:spPr>
      </p:sp>
      <p:pic>
        <p:nvPicPr>
          <p:cNvPr id="16" name="Image 2" descr="assets/ic_gemini_F0E8D7.png"/>
          <p:cNvPicPr>
            <a:picLocks noChangeAspect="1"/>
          </p:cNvPicPr>
          <p:nvPr/>
        </p:nvPicPr>
        <p:blipFill>
          <a:blip r:embed="rId5"/>
          <a:stretch>
            <a:fillRect/>
          </a:stretch>
        </p:blipFill>
        <p:spPr>
          <a:xfrm>
            <a:off x="1044245" y="4354373"/>
            <a:ext cx="380390" cy="380390"/>
          </a:xfrm>
          <a:prstGeom prst="rect">
            <a:avLst/>
          </a:prstGeom>
        </p:spPr>
      </p:pic>
      <p:sp>
        <p:nvSpPr>
          <p:cNvPr id="17" name="Text 12"/>
          <p:cNvSpPr/>
          <p:nvPr/>
        </p:nvSpPr>
        <p:spPr>
          <a:xfrm>
            <a:off x="1828800" y="4105656"/>
            <a:ext cx="3831336" cy="365760"/>
          </a:xfrm>
          <a:prstGeom prst="rect">
            <a:avLst/>
          </a:prstGeom>
          <a:noFill/>
          <a:ln/>
        </p:spPr>
        <p:txBody>
          <a:bodyPr wrap="square" lIns="0" tIns="0" rIns="0" bIns="0" rtlCol="0" anchor="ctr"/>
          <a:lstStyle/>
          <a:p>
            <a:pPr marL="0" indent="0">
              <a:buNone/>
            </a:pPr>
            <a:r>
              <a:rPr lang="en-US" sz="1800" b="1" dirty="0">
                <a:solidFill>
                  <a:srgbClr val="1B3A29"/>
                </a:solidFill>
                <a:latin typeface="Century Schoolbook" pitchFamily="34" charset="0"/>
                <a:ea typeface="Century Schoolbook" pitchFamily="34" charset="-122"/>
                <a:cs typeface="Century Schoolbook" pitchFamily="34" charset="-120"/>
              </a:rPr>
              <a:t>Speaks plain language</a:t>
            </a:r>
            <a:endParaRPr lang="en-US" sz="1800" dirty="0"/>
          </a:p>
        </p:txBody>
      </p:sp>
      <p:sp>
        <p:nvSpPr>
          <p:cNvPr id="18" name="Text 13"/>
          <p:cNvSpPr/>
          <p:nvPr/>
        </p:nvSpPr>
        <p:spPr>
          <a:xfrm>
            <a:off x="1828800" y="4507992"/>
            <a:ext cx="3831336" cy="822960"/>
          </a:xfrm>
          <a:prstGeom prst="rect">
            <a:avLst/>
          </a:prstGeom>
          <a:noFill/>
          <a:ln/>
        </p:spPr>
        <p:txBody>
          <a:bodyPr wrap="square" lIns="0" tIns="0" rIns="0" bIns="0" rtlCol="0" anchor="t"/>
          <a:lstStyle/>
          <a:p>
            <a:pPr marL="0" indent="0">
              <a:lnSpc>
                <a:spcPct val="110000"/>
              </a:lnSpc>
              <a:buNone/>
            </a:pPr>
            <a:r>
              <a:rPr lang="en-US" sz="1250" dirty="0">
                <a:solidFill>
                  <a:srgbClr val="47564C"/>
                </a:solidFill>
                <a:latin typeface="Calibri" pitchFamily="34" charset="0"/>
                <a:ea typeface="Calibri" pitchFamily="34" charset="-122"/>
                <a:cs typeface="Calibri" pitchFamily="34" charset="-120"/>
              </a:rPr>
              <a:t>Gemini turns analysis into a warning a non-expert can act on — tailored to residents, responders or water managers.</a:t>
            </a:r>
            <a:endParaRPr lang="en-US" sz="1250" dirty="0"/>
          </a:p>
        </p:txBody>
      </p:sp>
      <p:sp>
        <p:nvSpPr>
          <p:cNvPr id="19" name="Shape 14"/>
          <p:cNvSpPr/>
          <p:nvPr/>
        </p:nvSpPr>
        <p:spPr>
          <a:xfrm>
            <a:off x="6254496" y="3794760"/>
            <a:ext cx="5385816" cy="1691640"/>
          </a:xfrm>
          <a:prstGeom prst="roundRect">
            <a:avLst>
              <a:gd name="adj" fmla="val 5946"/>
            </a:avLst>
          </a:prstGeom>
          <a:solidFill>
            <a:srgbClr val="F8E9DE"/>
          </a:solidFill>
          <a:ln/>
        </p:spPr>
      </p:sp>
      <p:sp>
        <p:nvSpPr>
          <p:cNvPr id="20" name="Shape 15"/>
          <p:cNvSpPr/>
          <p:nvPr/>
        </p:nvSpPr>
        <p:spPr>
          <a:xfrm>
            <a:off x="6574536" y="4178808"/>
            <a:ext cx="731520" cy="731520"/>
          </a:xfrm>
          <a:prstGeom prst="ellipse">
            <a:avLst/>
          </a:prstGeom>
          <a:solidFill>
            <a:srgbClr val="C85A28"/>
          </a:solidFill>
          <a:ln/>
        </p:spPr>
      </p:sp>
      <p:pic>
        <p:nvPicPr>
          <p:cNvPr id="21" name="Image 3" descr="assets/ic_globe_F0E8D7.png"/>
          <p:cNvPicPr>
            <a:picLocks noChangeAspect="1"/>
          </p:cNvPicPr>
          <p:nvPr/>
        </p:nvPicPr>
        <p:blipFill>
          <a:blip r:embed="rId6"/>
          <a:stretch>
            <a:fillRect/>
          </a:stretch>
        </p:blipFill>
        <p:spPr>
          <a:xfrm>
            <a:off x="6750101" y="4354373"/>
            <a:ext cx="380390" cy="380390"/>
          </a:xfrm>
          <a:prstGeom prst="rect">
            <a:avLst/>
          </a:prstGeom>
        </p:spPr>
      </p:pic>
      <p:sp>
        <p:nvSpPr>
          <p:cNvPr id="22" name="Text 16"/>
          <p:cNvSpPr/>
          <p:nvPr/>
        </p:nvSpPr>
        <p:spPr>
          <a:xfrm>
            <a:off x="7534656" y="4105656"/>
            <a:ext cx="3831336" cy="365760"/>
          </a:xfrm>
          <a:prstGeom prst="rect">
            <a:avLst/>
          </a:prstGeom>
          <a:noFill/>
          <a:ln/>
        </p:spPr>
        <p:txBody>
          <a:bodyPr wrap="square" lIns="0" tIns="0" rIns="0" bIns="0" rtlCol="0" anchor="ctr"/>
          <a:lstStyle/>
          <a:p>
            <a:pPr marL="0" indent="0">
              <a:buNone/>
            </a:pPr>
            <a:r>
              <a:rPr lang="en-US" sz="1800" b="1" dirty="0">
                <a:solidFill>
                  <a:srgbClr val="1B3A29"/>
                </a:solidFill>
                <a:latin typeface="Century Schoolbook" pitchFamily="34" charset="0"/>
                <a:ea typeface="Century Schoolbook" pitchFamily="34" charset="-122"/>
                <a:cs typeface="Century Schoolbook" pitchFamily="34" charset="-120"/>
              </a:rPr>
              <a:t>Runs on public data</a:t>
            </a:r>
            <a:endParaRPr lang="en-US" sz="1800" dirty="0"/>
          </a:p>
        </p:txBody>
      </p:sp>
      <p:sp>
        <p:nvSpPr>
          <p:cNvPr id="23" name="Text 17"/>
          <p:cNvSpPr/>
          <p:nvPr/>
        </p:nvSpPr>
        <p:spPr>
          <a:xfrm>
            <a:off x="7534656" y="4507992"/>
            <a:ext cx="3831336" cy="822960"/>
          </a:xfrm>
          <a:prstGeom prst="rect">
            <a:avLst/>
          </a:prstGeom>
          <a:noFill/>
          <a:ln/>
        </p:spPr>
        <p:txBody>
          <a:bodyPr wrap="square" lIns="0" tIns="0" rIns="0" bIns="0" rtlCol="0" anchor="t"/>
          <a:lstStyle/>
          <a:p>
            <a:pPr marL="0" indent="0">
              <a:lnSpc>
                <a:spcPct val="110000"/>
              </a:lnSpc>
              <a:buNone/>
            </a:pPr>
            <a:r>
              <a:rPr lang="en-US" sz="1250" dirty="0">
                <a:solidFill>
                  <a:srgbClr val="47564C"/>
                </a:solidFill>
                <a:latin typeface="Calibri" pitchFamily="34" charset="0"/>
                <a:ea typeface="Calibri" pitchFamily="34" charset="-122"/>
                <a:cs typeface="Calibri" pitchFamily="34" charset="-120"/>
              </a:rPr>
              <a:t>No proprietary datasets — so it can extend anywhere the open Earth-observation data reaches.</a:t>
            </a:r>
            <a:endParaRPr lang="en-US" sz="1250" dirty="0"/>
          </a:p>
        </p:txBody>
      </p:sp>
      <p:sp>
        <p:nvSpPr>
          <p:cNvPr id="24" name="Text 18"/>
          <p:cNvSpPr/>
          <p:nvPr/>
        </p:nvSpPr>
        <p:spPr>
          <a:xfrm>
            <a:off x="548640" y="5806440"/>
            <a:ext cx="11091672" cy="457200"/>
          </a:xfrm>
          <a:prstGeom prst="rect">
            <a:avLst/>
          </a:prstGeom>
          <a:noFill/>
          <a:ln/>
        </p:spPr>
        <p:txBody>
          <a:bodyPr wrap="square" lIns="0" tIns="0" rIns="0" bIns="0" rtlCol="0" anchor="ctr"/>
          <a:lstStyle/>
          <a:p>
            <a:pPr marL="0" indent="0" algn="ctr">
              <a:buNone/>
            </a:pPr>
            <a:r>
              <a:rPr lang="en-US" sz="1350" b="1" dirty="0">
                <a:solidFill>
                  <a:srgbClr val="C85A28"/>
                </a:solidFill>
                <a:latin typeface="Calibri" pitchFamily="34" charset="0"/>
                <a:ea typeface="Calibri" pitchFamily="34" charset="-122"/>
                <a:cs typeface="Calibri" pitchFamily="34" charset="-120"/>
              </a:rPr>
              <a:t>Built for the people who act on it:  </a:t>
            </a:r>
            <a:r>
              <a:rPr lang="en-US" sz="1350" dirty="0">
                <a:solidFill>
                  <a:srgbClr val="1B3A29"/>
                </a:solidFill>
                <a:latin typeface="Calibri" pitchFamily="34" charset="0"/>
                <a:ea typeface="Calibri" pitchFamily="34" charset="-122"/>
                <a:cs typeface="Calibri" pitchFamily="34" charset="-120"/>
              </a:rPr>
              <a:t>USGS  ·  National Weather Service  ·  local emergency management  ·  water &amp; land agencies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CFCFA"/>
        </a:solidFill>
        <a:effectLst/>
      </p:bgPr>
    </p:bg>
    <p:spTree>
      <p:nvGrpSpPr>
        <p:cNvPr id="1" name=""/>
        <p:cNvGrpSpPr/>
        <p:nvPr/>
      </p:nvGrpSpPr>
      <p:grpSpPr>
        <a:xfrm>
          <a:off x="0" y="0"/>
          <a:ext cx="0" cy="0"/>
          <a:chOff x="0" y="0"/>
          <a:chExt cx="0" cy="0"/>
        </a:xfrm>
      </p:grpSpPr>
      <p:sp>
        <p:nvSpPr>
          <p:cNvPr id="2" name="Text 0"/>
          <p:cNvSpPr/>
          <p:nvPr/>
        </p:nvSpPr>
        <p:spPr>
          <a:xfrm>
            <a:off x="548640" y="502920"/>
            <a:ext cx="10515600" cy="292608"/>
          </a:xfrm>
          <a:prstGeom prst="rect">
            <a:avLst/>
          </a:prstGeom>
          <a:noFill/>
          <a:ln/>
        </p:spPr>
        <p:txBody>
          <a:bodyPr wrap="square" lIns="0" tIns="0" rIns="0" bIns="0" rtlCol="0" anchor="ctr"/>
          <a:lstStyle/>
          <a:p>
            <a:pPr marL="0" indent="0" algn="l">
              <a:buNone/>
            </a:pPr>
            <a:r>
              <a:rPr lang="en-US" sz="1250" b="1" kern="0" spc="300" dirty="0">
                <a:solidFill>
                  <a:srgbClr val="C85A28"/>
                </a:solidFill>
                <a:latin typeface="Calibri" pitchFamily="34" charset="0"/>
                <a:ea typeface="Calibri" pitchFamily="34" charset="-122"/>
                <a:cs typeface="Calibri" pitchFamily="34" charset="-120"/>
              </a:rPr>
              <a:t>TRANSPARENT BY DESIGN</a:t>
            </a:r>
            <a:endParaRPr lang="en-US" sz="1250" dirty="0"/>
          </a:p>
        </p:txBody>
      </p:sp>
      <p:sp>
        <p:nvSpPr>
          <p:cNvPr id="3" name="Text 1"/>
          <p:cNvSpPr/>
          <p:nvPr/>
        </p:nvSpPr>
        <p:spPr>
          <a:xfrm>
            <a:off x="548640" y="868680"/>
            <a:ext cx="11155680" cy="914400"/>
          </a:xfrm>
          <a:prstGeom prst="rect">
            <a:avLst/>
          </a:prstGeom>
          <a:noFill/>
          <a:ln/>
        </p:spPr>
        <p:txBody>
          <a:bodyPr wrap="square" lIns="0" tIns="0" rIns="0" bIns="0" rtlCol="0" anchor="ctr"/>
          <a:lstStyle/>
          <a:p>
            <a:pPr marL="0" indent="0" algn="l">
              <a:lnSpc>
                <a:spcPct val="98000"/>
              </a:lnSpc>
              <a:buNone/>
            </a:pPr>
            <a:r>
              <a:rPr lang="en-US" sz="3200" b="1" dirty="0">
                <a:solidFill>
                  <a:srgbClr val="1B3A29"/>
                </a:solidFill>
                <a:latin typeface="Century Schoolbook" pitchFamily="34" charset="0"/>
                <a:ea typeface="Century Schoolbook" pitchFamily="34" charset="-122"/>
                <a:cs typeface="Century Schoolbook" pitchFamily="34" charset="-120"/>
              </a:rPr>
              <a:t>Honest about the ceiling — safe by design</a:t>
            </a:r>
            <a:endParaRPr lang="en-US" sz="3200" dirty="0"/>
          </a:p>
        </p:txBody>
      </p:sp>
      <p:sp>
        <p:nvSpPr>
          <p:cNvPr id="4" name="Shape 2"/>
          <p:cNvSpPr/>
          <p:nvPr/>
        </p:nvSpPr>
        <p:spPr>
          <a:xfrm>
            <a:off x="548640" y="1874520"/>
            <a:ext cx="5385816" cy="3977640"/>
          </a:xfrm>
          <a:prstGeom prst="roundRect">
            <a:avLst>
              <a:gd name="adj" fmla="val 2529"/>
            </a:avLst>
          </a:prstGeom>
          <a:solidFill>
            <a:srgbClr val="E9F1EA"/>
          </a:solidFill>
          <a:ln/>
        </p:spPr>
      </p:sp>
      <p:sp>
        <p:nvSpPr>
          <p:cNvPr id="5" name="Shape 3"/>
          <p:cNvSpPr/>
          <p:nvPr/>
        </p:nvSpPr>
        <p:spPr>
          <a:xfrm>
            <a:off x="914400" y="2194560"/>
            <a:ext cx="685800" cy="685800"/>
          </a:xfrm>
          <a:prstGeom prst="ellipse">
            <a:avLst/>
          </a:prstGeom>
          <a:solidFill>
            <a:srgbClr val="2E7D4F"/>
          </a:solidFill>
          <a:ln/>
        </p:spPr>
      </p:sp>
      <p:pic>
        <p:nvPicPr>
          <p:cNvPr id="6" name="Image 0" descr="assets/ic_shield_F0E8D7.png"/>
          <p:cNvPicPr>
            <a:picLocks noChangeAspect="1"/>
          </p:cNvPicPr>
          <p:nvPr/>
        </p:nvPicPr>
        <p:blipFill>
          <a:blip r:embed="rId3"/>
          <a:stretch>
            <a:fillRect/>
          </a:stretch>
        </p:blipFill>
        <p:spPr>
          <a:xfrm>
            <a:off x="1078992" y="2359152"/>
            <a:ext cx="356616" cy="356616"/>
          </a:xfrm>
          <a:prstGeom prst="rect">
            <a:avLst/>
          </a:prstGeom>
        </p:spPr>
      </p:pic>
      <p:sp>
        <p:nvSpPr>
          <p:cNvPr id="7" name="Text 4"/>
          <p:cNvSpPr/>
          <p:nvPr/>
        </p:nvSpPr>
        <p:spPr>
          <a:xfrm>
            <a:off x="1783080" y="2258568"/>
            <a:ext cx="3922776" cy="502920"/>
          </a:xfrm>
          <a:prstGeom prst="rect">
            <a:avLst/>
          </a:prstGeom>
          <a:noFill/>
          <a:ln/>
        </p:spPr>
        <p:txBody>
          <a:bodyPr wrap="square" lIns="0" tIns="0" rIns="0" bIns="0" rtlCol="0" anchor="ctr"/>
          <a:lstStyle/>
          <a:p>
            <a:pPr marL="0" indent="0">
              <a:buNone/>
            </a:pPr>
            <a:r>
              <a:rPr lang="en-US" sz="1900" b="1" dirty="0">
                <a:solidFill>
                  <a:srgbClr val="1B3A29"/>
                </a:solidFill>
                <a:latin typeface="Century Schoolbook" pitchFamily="34" charset="0"/>
                <a:ea typeface="Century Schoolbook" pitchFamily="34" charset="-122"/>
                <a:cs typeface="Century Schoolbook" pitchFamily="34" charset="-120"/>
              </a:rPr>
              <a:t>Safe by design</a:t>
            </a:r>
            <a:endParaRPr lang="en-US" sz="1900" dirty="0"/>
          </a:p>
        </p:txBody>
      </p:sp>
      <p:sp>
        <p:nvSpPr>
          <p:cNvPr id="8" name="Shape 5"/>
          <p:cNvSpPr/>
          <p:nvPr/>
        </p:nvSpPr>
        <p:spPr>
          <a:xfrm>
            <a:off x="914400" y="3108960"/>
            <a:ext cx="384048" cy="384048"/>
          </a:xfrm>
          <a:prstGeom prst="ellipse">
            <a:avLst/>
          </a:prstGeom>
          <a:solidFill>
            <a:srgbClr val="2E7D4F"/>
          </a:solidFill>
          <a:ln/>
        </p:spPr>
      </p:sp>
      <p:pic>
        <p:nvPicPr>
          <p:cNvPr id="9" name="Image 1" descr="assets/ic_check_F0E8D7.png"/>
          <p:cNvPicPr>
            <a:picLocks noChangeAspect="1"/>
          </p:cNvPicPr>
          <p:nvPr/>
        </p:nvPicPr>
        <p:blipFill>
          <a:blip r:embed="rId4"/>
          <a:stretch>
            <a:fillRect/>
          </a:stretch>
        </p:blipFill>
        <p:spPr>
          <a:xfrm>
            <a:off x="1006572" y="3201132"/>
            <a:ext cx="199705" cy="199705"/>
          </a:xfrm>
          <a:prstGeom prst="rect">
            <a:avLst/>
          </a:prstGeom>
        </p:spPr>
      </p:pic>
      <p:sp>
        <p:nvSpPr>
          <p:cNvPr id="10" name="Text 6"/>
          <p:cNvSpPr/>
          <p:nvPr/>
        </p:nvSpPr>
        <p:spPr>
          <a:xfrm>
            <a:off x="1463040" y="3072384"/>
            <a:ext cx="4197096" cy="292608"/>
          </a:xfrm>
          <a:prstGeom prst="rect">
            <a:avLst/>
          </a:prstGeom>
          <a:noFill/>
          <a:ln/>
        </p:spPr>
        <p:txBody>
          <a:bodyPr wrap="square" lIns="0" tIns="0" rIns="0" bIns="0" rtlCol="0" anchor="ctr"/>
          <a:lstStyle/>
          <a:p>
            <a:pPr marL="0" indent="0">
              <a:buNone/>
            </a:pPr>
            <a:r>
              <a:rPr lang="en-US" sz="1350" b="1" dirty="0">
                <a:solidFill>
                  <a:srgbClr val="1B3A29"/>
                </a:solidFill>
                <a:latin typeface="Calibri" pitchFamily="34" charset="0"/>
                <a:ea typeface="Calibri" pitchFamily="34" charset="-122"/>
                <a:cs typeface="Calibri" pitchFamily="34" charset="-120"/>
              </a:rPr>
              <a:t>Numbers come from code, never the AI.</a:t>
            </a:r>
            <a:endParaRPr lang="en-US" sz="1350" dirty="0"/>
          </a:p>
        </p:txBody>
      </p:sp>
      <p:sp>
        <p:nvSpPr>
          <p:cNvPr id="11" name="Text 7"/>
          <p:cNvSpPr/>
          <p:nvPr/>
        </p:nvSpPr>
        <p:spPr>
          <a:xfrm>
            <a:off x="1463040" y="3364992"/>
            <a:ext cx="4151376" cy="502920"/>
          </a:xfrm>
          <a:prstGeom prst="rect">
            <a:avLst/>
          </a:prstGeom>
          <a:noFill/>
          <a:ln/>
        </p:spPr>
        <p:txBody>
          <a:bodyPr wrap="square" lIns="0" tIns="0" rIns="0" bIns="0" rtlCol="0" anchor="t"/>
          <a:lstStyle/>
          <a:p>
            <a:pPr marL="0" indent="0">
              <a:lnSpc>
                <a:spcPct val="105000"/>
              </a:lnSpc>
              <a:buNone/>
            </a:pPr>
            <a:r>
              <a:rPr lang="en-US" sz="1150" dirty="0">
                <a:solidFill>
                  <a:srgbClr val="47564C"/>
                </a:solidFill>
                <a:latin typeface="Calibri" pitchFamily="34" charset="0"/>
                <a:ea typeface="Calibri" pitchFamily="34" charset="-122"/>
                <a:cs typeface="Calibri" pitchFamily="34" charset="-120"/>
              </a:rPr>
              <a:t>Gemini writes prose around facts locked before it's ever called — nothing to misremember.</a:t>
            </a:r>
            <a:endParaRPr lang="en-US" sz="1150" dirty="0"/>
          </a:p>
        </p:txBody>
      </p:sp>
      <p:sp>
        <p:nvSpPr>
          <p:cNvPr id="12" name="Shape 8"/>
          <p:cNvSpPr/>
          <p:nvPr/>
        </p:nvSpPr>
        <p:spPr>
          <a:xfrm>
            <a:off x="914400" y="4005072"/>
            <a:ext cx="384048" cy="384048"/>
          </a:xfrm>
          <a:prstGeom prst="ellipse">
            <a:avLst/>
          </a:prstGeom>
          <a:solidFill>
            <a:srgbClr val="2E7D4F"/>
          </a:solidFill>
          <a:ln/>
        </p:spPr>
      </p:sp>
      <p:pic>
        <p:nvPicPr>
          <p:cNvPr id="13" name="Image 2" descr="assets/ic_check_F0E8D7.png"/>
          <p:cNvPicPr>
            <a:picLocks noChangeAspect="1"/>
          </p:cNvPicPr>
          <p:nvPr/>
        </p:nvPicPr>
        <p:blipFill>
          <a:blip r:embed="rId4"/>
          <a:stretch>
            <a:fillRect/>
          </a:stretch>
        </p:blipFill>
        <p:spPr>
          <a:xfrm>
            <a:off x="1006572" y="4097244"/>
            <a:ext cx="199705" cy="199705"/>
          </a:xfrm>
          <a:prstGeom prst="rect">
            <a:avLst/>
          </a:prstGeom>
        </p:spPr>
      </p:pic>
      <p:sp>
        <p:nvSpPr>
          <p:cNvPr id="14" name="Text 9"/>
          <p:cNvSpPr/>
          <p:nvPr/>
        </p:nvSpPr>
        <p:spPr>
          <a:xfrm>
            <a:off x="1463040" y="3968496"/>
            <a:ext cx="4197096" cy="292608"/>
          </a:xfrm>
          <a:prstGeom prst="rect">
            <a:avLst/>
          </a:prstGeom>
          <a:noFill/>
          <a:ln/>
        </p:spPr>
        <p:txBody>
          <a:bodyPr wrap="square" lIns="0" tIns="0" rIns="0" bIns="0" rtlCol="0" anchor="ctr"/>
          <a:lstStyle/>
          <a:p>
            <a:pPr marL="0" indent="0">
              <a:buNone/>
            </a:pPr>
            <a:r>
              <a:rPr lang="en-US" sz="1350" b="1" dirty="0">
                <a:solidFill>
                  <a:srgbClr val="1B3A29"/>
                </a:solidFill>
                <a:latin typeface="Calibri" pitchFamily="34" charset="0"/>
                <a:ea typeface="Calibri" pitchFamily="34" charset="-122"/>
                <a:cs typeface="Calibri" pitchFamily="34" charset="-120"/>
              </a:rPr>
              <a:t>A human approves every warning.</a:t>
            </a:r>
            <a:endParaRPr lang="en-US" sz="1350" dirty="0"/>
          </a:p>
        </p:txBody>
      </p:sp>
      <p:sp>
        <p:nvSpPr>
          <p:cNvPr id="15" name="Text 10"/>
          <p:cNvSpPr/>
          <p:nvPr/>
        </p:nvSpPr>
        <p:spPr>
          <a:xfrm>
            <a:off x="1463040" y="4261104"/>
            <a:ext cx="4151376" cy="502920"/>
          </a:xfrm>
          <a:prstGeom prst="rect">
            <a:avLst/>
          </a:prstGeom>
          <a:noFill/>
          <a:ln/>
        </p:spPr>
        <p:txBody>
          <a:bodyPr wrap="square" lIns="0" tIns="0" rIns="0" bIns="0" rtlCol="0" anchor="t"/>
          <a:lstStyle/>
          <a:p>
            <a:pPr marL="0" indent="0">
              <a:lnSpc>
                <a:spcPct val="105000"/>
              </a:lnSpc>
              <a:buNone/>
            </a:pPr>
            <a:r>
              <a:rPr lang="en-US" sz="1150" dirty="0">
                <a:solidFill>
                  <a:srgbClr val="47564C"/>
                </a:solidFill>
                <a:latin typeface="Calibri" pitchFamily="34" charset="0"/>
                <a:ea typeface="Calibri" pitchFamily="34" charset="-122"/>
                <a:cs typeface="Calibri" pitchFamily="34" charset="-120"/>
              </a:rPr>
              <a:t>Generate and Send stay separate; nothing dispatches on its own.</a:t>
            </a:r>
            <a:endParaRPr lang="en-US" sz="1150" dirty="0"/>
          </a:p>
        </p:txBody>
      </p:sp>
      <p:sp>
        <p:nvSpPr>
          <p:cNvPr id="16" name="Shape 11"/>
          <p:cNvSpPr/>
          <p:nvPr/>
        </p:nvSpPr>
        <p:spPr>
          <a:xfrm>
            <a:off x="914400" y="4901184"/>
            <a:ext cx="384048" cy="384048"/>
          </a:xfrm>
          <a:prstGeom prst="ellipse">
            <a:avLst/>
          </a:prstGeom>
          <a:solidFill>
            <a:srgbClr val="2E7D4F"/>
          </a:solidFill>
          <a:ln/>
        </p:spPr>
      </p:sp>
      <p:pic>
        <p:nvPicPr>
          <p:cNvPr id="17" name="Image 3" descr="assets/ic_check_F0E8D7.png"/>
          <p:cNvPicPr>
            <a:picLocks noChangeAspect="1"/>
          </p:cNvPicPr>
          <p:nvPr/>
        </p:nvPicPr>
        <p:blipFill>
          <a:blip r:embed="rId4"/>
          <a:stretch>
            <a:fillRect/>
          </a:stretch>
        </p:blipFill>
        <p:spPr>
          <a:xfrm>
            <a:off x="1006572" y="4993356"/>
            <a:ext cx="199705" cy="199705"/>
          </a:xfrm>
          <a:prstGeom prst="rect">
            <a:avLst/>
          </a:prstGeom>
        </p:spPr>
      </p:pic>
      <p:sp>
        <p:nvSpPr>
          <p:cNvPr id="18" name="Text 12"/>
          <p:cNvSpPr/>
          <p:nvPr/>
        </p:nvSpPr>
        <p:spPr>
          <a:xfrm>
            <a:off x="1463040" y="4864608"/>
            <a:ext cx="4197096" cy="292608"/>
          </a:xfrm>
          <a:prstGeom prst="rect">
            <a:avLst/>
          </a:prstGeom>
          <a:noFill/>
          <a:ln/>
        </p:spPr>
        <p:txBody>
          <a:bodyPr wrap="square" lIns="0" tIns="0" rIns="0" bIns="0" rtlCol="0" anchor="ctr"/>
          <a:lstStyle/>
          <a:p>
            <a:pPr marL="0" indent="0">
              <a:buNone/>
            </a:pPr>
            <a:r>
              <a:rPr lang="en-US" sz="1350" b="1" dirty="0">
                <a:solidFill>
                  <a:srgbClr val="1B3A29"/>
                </a:solidFill>
                <a:latin typeface="Calibri" pitchFamily="34" charset="0"/>
                <a:ea typeface="Calibri" pitchFamily="34" charset="-122"/>
                <a:cs typeface="Calibri" pitchFamily="34" charset="-120"/>
              </a:rPr>
              <a:t>A fixed go/no-go threshold.</a:t>
            </a:r>
            <a:endParaRPr lang="en-US" sz="1350" dirty="0"/>
          </a:p>
        </p:txBody>
      </p:sp>
      <p:sp>
        <p:nvSpPr>
          <p:cNvPr id="19" name="Text 13"/>
          <p:cNvSpPr/>
          <p:nvPr/>
        </p:nvSpPr>
        <p:spPr>
          <a:xfrm>
            <a:off x="1463040" y="5157216"/>
            <a:ext cx="4151376" cy="502920"/>
          </a:xfrm>
          <a:prstGeom prst="rect">
            <a:avLst/>
          </a:prstGeom>
          <a:noFill/>
          <a:ln/>
        </p:spPr>
        <p:txBody>
          <a:bodyPr wrap="square" lIns="0" tIns="0" rIns="0" bIns="0" rtlCol="0" anchor="t"/>
          <a:lstStyle/>
          <a:p>
            <a:pPr marL="0" indent="0">
              <a:lnSpc>
                <a:spcPct val="105000"/>
              </a:lnSpc>
              <a:buNone/>
            </a:pPr>
            <a:r>
              <a:rPr lang="en-US" sz="1150" dirty="0">
                <a:solidFill>
                  <a:srgbClr val="47564C"/>
                </a:solidFill>
                <a:latin typeface="Calibri" pitchFamily="34" charset="0"/>
                <a:ea typeface="Calibri" pitchFamily="34" charset="-122"/>
                <a:cs typeface="Calibri" pitchFamily="34" charset="-120"/>
              </a:rPr>
              <a:t>The AI refines and explains — it can't silently lower a warning the data warrants.</a:t>
            </a:r>
            <a:endParaRPr lang="en-US" sz="1150" dirty="0"/>
          </a:p>
        </p:txBody>
      </p:sp>
      <p:sp>
        <p:nvSpPr>
          <p:cNvPr id="20" name="Shape 14"/>
          <p:cNvSpPr/>
          <p:nvPr/>
        </p:nvSpPr>
        <p:spPr>
          <a:xfrm>
            <a:off x="6254496" y="1874520"/>
            <a:ext cx="5385816" cy="3977640"/>
          </a:xfrm>
          <a:prstGeom prst="roundRect">
            <a:avLst>
              <a:gd name="adj" fmla="val 2529"/>
            </a:avLst>
          </a:prstGeom>
          <a:solidFill>
            <a:srgbClr val="F4F2EC"/>
          </a:solidFill>
          <a:ln/>
        </p:spPr>
      </p:sp>
      <p:sp>
        <p:nvSpPr>
          <p:cNvPr id="21" name="Shape 15"/>
          <p:cNvSpPr/>
          <p:nvPr/>
        </p:nvSpPr>
        <p:spPr>
          <a:xfrm>
            <a:off x="6620256" y="2194560"/>
            <a:ext cx="685800" cy="685800"/>
          </a:xfrm>
          <a:prstGeom prst="ellipse">
            <a:avLst/>
          </a:prstGeom>
          <a:solidFill>
            <a:srgbClr val="C85A28"/>
          </a:solidFill>
          <a:ln/>
        </p:spPr>
      </p:sp>
      <p:pic>
        <p:nvPicPr>
          <p:cNvPr id="22" name="Image 4" descr="assets/ic_scale_F0E8D7.png"/>
          <p:cNvPicPr>
            <a:picLocks noChangeAspect="1"/>
          </p:cNvPicPr>
          <p:nvPr/>
        </p:nvPicPr>
        <p:blipFill>
          <a:blip r:embed="rId5"/>
          <a:stretch>
            <a:fillRect/>
          </a:stretch>
        </p:blipFill>
        <p:spPr>
          <a:xfrm>
            <a:off x="6784848" y="2359152"/>
            <a:ext cx="356616" cy="356616"/>
          </a:xfrm>
          <a:prstGeom prst="rect">
            <a:avLst/>
          </a:prstGeom>
        </p:spPr>
      </p:pic>
      <p:sp>
        <p:nvSpPr>
          <p:cNvPr id="23" name="Text 16"/>
          <p:cNvSpPr/>
          <p:nvPr/>
        </p:nvSpPr>
        <p:spPr>
          <a:xfrm>
            <a:off x="7488936" y="2258568"/>
            <a:ext cx="3922776" cy="502920"/>
          </a:xfrm>
          <a:prstGeom prst="rect">
            <a:avLst/>
          </a:prstGeom>
          <a:noFill/>
          <a:ln/>
        </p:spPr>
        <p:txBody>
          <a:bodyPr wrap="square" lIns="0" tIns="0" rIns="0" bIns="0" rtlCol="0" anchor="ctr"/>
          <a:lstStyle/>
          <a:p>
            <a:pPr marL="0" indent="0">
              <a:buNone/>
            </a:pPr>
            <a:r>
              <a:rPr lang="en-US" sz="1900" b="1" dirty="0">
                <a:solidFill>
                  <a:srgbClr val="1B3A29"/>
                </a:solidFill>
                <a:latin typeface="Century Schoolbook" pitchFamily="34" charset="0"/>
                <a:ea typeface="Century Schoolbook" pitchFamily="34" charset="-122"/>
                <a:cs typeface="Century Schoolbook" pitchFamily="34" charset="-120"/>
              </a:rPr>
              <a:t>What it can't do</a:t>
            </a:r>
            <a:endParaRPr lang="en-US" sz="1900" dirty="0"/>
          </a:p>
        </p:txBody>
      </p:sp>
      <p:sp>
        <p:nvSpPr>
          <p:cNvPr id="24" name="Text 17"/>
          <p:cNvSpPr/>
          <p:nvPr/>
        </p:nvSpPr>
        <p:spPr>
          <a:xfrm>
            <a:off x="6620256" y="3148374"/>
            <a:ext cx="4654296" cy="2290729"/>
          </a:xfrm>
          <a:prstGeom prst="rect">
            <a:avLst/>
          </a:prstGeom>
          <a:noFill/>
          <a:ln/>
        </p:spPr>
        <p:txBody>
          <a:bodyPr wrap="square" lIns="0" tIns="0" rIns="0" bIns="0" rtlCol="0" anchor="t"/>
          <a:lstStyle/>
          <a:p>
            <a:pPr rtl="0"/>
            <a:r>
              <a:rPr lang="en-US" sz="1350" b="1" dirty="0"/>
              <a:t>Forecast-dependent accuracy</a:t>
            </a:r>
            <a:br>
              <a:rPr lang="en-US" sz="1400" dirty="0"/>
            </a:br>
            <a:r>
              <a:rPr lang="en-US" sz="1150" dirty="0"/>
              <a:t>Coarse forecasts blur short, intense rain bursts. A weak forecast delays a warning — it doesn't create a false one.</a:t>
            </a:r>
          </a:p>
          <a:p>
            <a:pPr rtl="0"/>
            <a:endParaRPr lang="en-US" sz="1350" dirty="0"/>
          </a:p>
          <a:p>
            <a:pPr rtl="0"/>
            <a:r>
              <a:rPr lang="en-US" sz="1350" b="1" dirty="0"/>
              <a:t>Currently US-scoped, and static by nature</a:t>
            </a:r>
            <a:br>
              <a:rPr lang="en-US" sz="1400" dirty="0"/>
            </a:br>
            <a:r>
              <a:rPr lang="en-US" sz="1200" dirty="0"/>
              <a:t>Soil erodibility data (K-factor) covers the US today, and reflects conditions at the time it was mapped rather than in real time. As soils shift and new regions are added, the model's inputs will need refreshing to stay accurate</a:t>
            </a:r>
          </a:p>
          <a:p>
            <a:pPr rtl="0"/>
            <a:endParaRPr lang="en-US" sz="1400" dirty="0"/>
          </a:p>
          <a:p>
            <a:pPr rtl="0"/>
            <a:r>
              <a:rPr lang="en-US" sz="1350" b="1" dirty="0"/>
              <a:t>A predictive tool, not a countermeasure</a:t>
            </a:r>
            <a:br>
              <a:rPr lang="en-US" sz="1400" dirty="0"/>
            </a:br>
            <a:r>
              <a:rPr lang="en-US" sz="1150" dirty="0"/>
              <a:t>Alluvion flags where and when to act — it can't stop a flow. Evacuations and closures stay human calls, made earlier.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CFCFA"/>
        </a:solidFill>
        <a:effectLst/>
      </p:bgPr>
    </p:bg>
    <p:spTree>
      <p:nvGrpSpPr>
        <p:cNvPr id="1" name=""/>
        <p:cNvGrpSpPr/>
        <p:nvPr/>
      </p:nvGrpSpPr>
      <p:grpSpPr>
        <a:xfrm>
          <a:off x="0" y="0"/>
          <a:ext cx="0" cy="0"/>
          <a:chOff x="0" y="0"/>
          <a:chExt cx="0" cy="0"/>
        </a:xfrm>
      </p:grpSpPr>
      <p:sp>
        <p:nvSpPr>
          <p:cNvPr id="2" name="Text 0"/>
          <p:cNvSpPr/>
          <p:nvPr/>
        </p:nvSpPr>
        <p:spPr>
          <a:xfrm>
            <a:off x="548640" y="502920"/>
            <a:ext cx="10515600" cy="292608"/>
          </a:xfrm>
          <a:prstGeom prst="rect">
            <a:avLst/>
          </a:prstGeom>
          <a:noFill/>
          <a:ln/>
        </p:spPr>
        <p:txBody>
          <a:bodyPr wrap="square" lIns="0" tIns="0" rIns="0" bIns="0" rtlCol="0" anchor="ctr"/>
          <a:lstStyle/>
          <a:p>
            <a:pPr marL="0" indent="0" algn="l">
              <a:buNone/>
            </a:pPr>
            <a:r>
              <a:rPr lang="en-US" sz="1250" b="1" kern="0" spc="300" dirty="0">
                <a:solidFill>
                  <a:srgbClr val="C85A28"/>
                </a:solidFill>
                <a:latin typeface="Calibri" pitchFamily="34" charset="0"/>
                <a:ea typeface="Calibri" pitchFamily="34" charset="-122"/>
                <a:cs typeface="Calibri" pitchFamily="34" charset="-120"/>
              </a:rPr>
              <a:t>THE ASK</a:t>
            </a:r>
            <a:endParaRPr lang="en-US" sz="1250" dirty="0"/>
          </a:p>
        </p:txBody>
      </p:sp>
      <p:sp>
        <p:nvSpPr>
          <p:cNvPr id="3" name="Text 1"/>
          <p:cNvSpPr/>
          <p:nvPr/>
        </p:nvSpPr>
        <p:spPr>
          <a:xfrm>
            <a:off x="548640" y="868680"/>
            <a:ext cx="11155680" cy="914400"/>
          </a:xfrm>
          <a:prstGeom prst="rect">
            <a:avLst/>
          </a:prstGeom>
          <a:noFill/>
          <a:ln/>
        </p:spPr>
        <p:txBody>
          <a:bodyPr wrap="square" lIns="0" tIns="0" rIns="0" bIns="0" rtlCol="0" anchor="ctr"/>
          <a:lstStyle/>
          <a:p>
            <a:pPr marL="0" indent="0" algn="l">
              <a:lnSpc>
                <a:spcPct val="98000"/>
              </a:lnSpc>
              <a:buNone/>
            </a:pPr>
            <a:r>
              <a:rPr lang="en-US" sz="3300" b="1" dirty="0">
                <a:latin typeface="Century Schoolbook" panose="02040604050505020304" pitchFamily="18" charset="0"/>
              </a:rPr>
              <a:t>The pieces exist. The pipeline doesn’t.</a:t>
            </a:r>
          </a:p>
        </p:txBody>
      </p:sp>
      <p:sp>
        <p:nvSpPr>
          <p:cNvPr id="21" name="Shape Card1"/>
          <p:cNvSpPr/>
          <p:nvPr/>
        </p:nvSpPr>
        <p:spPr>
          <a:xfrm>
            <a:off x="548640" y="1828800"/>
            <a:ext cx="5852160" cy="1783080"/>
          </a:xfrm>
          <a:prstGeom prst="roundRect">
            <a:avLst>
              <a:gd name="adj" fmla="val 5641"/>
            </a:avLst>
          </a:prstGeom>
          <a:solidFill>
            <a:srgbClr val="E9F1EA"/>
          </a:solidFill>
          <a:ln/>
        </p:spPr>
      </p:sp>
      <p:sp>
        <p:nvSpPr>
          <p:cNvPr id="22" name="Text Card1 Label"/>
          <p:cNvSpPr/>
          <p:nvPr/>
        </p:nvSpPr>
        <p:spPr>
          <a:xfrm>
            <a:off x="841248" y="2048256"/>
            <a:ext cx="5266944" cy="274320"/>
          </a:xfrm>
          <a:prstGeom prst="rect">
            <a:avLst/>
          </a:prstGeom>
          <a:noFill/>
          <a:ln/>
        </p:spPr>
        <p:txBody>
          <a:bodyPr wrap="square" lIns="0" tIns="0" rIns="0" bIns="0" rtlCol="0" anchor="ctr"/>
          <a:lstStyle/>
          <a:p>
            <a:pPr marL="0" indent="0">
              <a:buNone/>
            </a:pPr>
            <a:r>
              <a:rPr lang="en-US" sz="1200" b="1" kern="0" spc="200" dirty="0">
                <a:solidFill>
                  <a:srgbClr val="2E7D4F"/>
                </a:solidFill>
                <a:latin typeface="Calibri" pitchFamily="34" charset="0"/>
                <a:ea typeface="Calibri" pitchFamily="34" charset="-122"/>
                <a:cs typeface="Calibri" pitchFamily="34" charset="-120"/>
              </a:rPr>
              <a:t>EXISTS TODAY</a:t>
            </a:r>
            <a:endParaRPr lang="en-US" sz="1200" dirty="0"/>
          </a:p>
        </p:txBody>
      </p:sp>
      <p:sp>
        <p:nvSpPr>
          <p:cNvPr id="23" name="Text Card1 Heading"/>
          <p:cNvSpPr/>
          <p:nvPr/>
        </p:nvSpPr>
        <p:spPr>
          <a:xfrm>
            <a:off x="841248" y="2340864"/>
            <a:ext cx="5266944" cy="365760"/>
          </a:xfrm>
          <a:prstGeom prst="rect">
            <a:avLst/>
          </a:prstGeom>
          <a:noFill/>
          <a:ln/>
        </p:spPr>
        <p:txBody>
          <a:bodyPr wrap="square" lIns="0" tIns="0" rIns="0" bIns="0" rtlCol="0" anchor="ctr"/>
          <a:lstStyle/>
          <a:p>
            <a:pPr marL="0" indent="0">
              <a:buNone/>
            </a:pPr>
            <a:r>
              <a:rPr lang="en-US" sz="1600" b="1" dirty="0">
                <a:solidFill>
                  <a:srgbClr val="1B3A29"/>
                </a:solidFill>
                <a:latin typeface="Century Schoolbook" pitchFamily="34" charset="0"/>
                <a:ea typeface="Century Schoolbook" pitchFamily="34" charset="-122"/>
                <a:cs typeface="Century Schoolbook" pitchFamily="34" charset="-120"/>
              </a:rPr>
              <a:t>Detection and physics, apart</a:t>
            </a:r>
            <a:endParaRPr lang="en-US" sz="1600" dirty="0"/>
          </a:p>
        </p:txBody>
      </p:sp>
      <p:sp>
        <p:nvSpPr>
          <p:cNvPr id="24" name="Text Card1 Body"/>
          <p:cNvSpPr/>
          <p:nvPr/>
        </p:nvSpPr>
        <p:spPr>
          <a:xfrm>
            <a:off x="841248" y="2743200"/>
            <a:ext cx="5266944" cy="731520"/>
          </a:xfrm>
          <a:prstGeom prst="rect">
            <a:avLst/>
          </a:prstGeom>
          <a:noFill/>
          <a:ln/>
        </p:spPr>
        <p:txBody>
          <a:bodyPr wrap="square" lIns="0" tIns="0" rIns="0" bIns="0" rtlCol="0" anchor="t"/>
          <a:lstStyle/>
          <a:p>
            <a:pPr marL="0" indent="0">
              <a:lnSpc>
                <a:spcPct val="108000"/>
              </a:lnSpc>
              <a:buNone/>
            </a:pPr>
            <a:r>
              <a:rPr lang="en-US" sz="1200" dirty="0">
                <a:solidFill>
                  <a:srgbClr val="47564C"/>
                </a:solidFill>
                <a:latin typeface="Calibri" pitchFamily="34" charset="0"/>
                <a:ea typeface="Calibri" pitchFamily="34" charset="-122"/>
                <a:cs typeface="Calibri" pitchFamily="34" charset="-120"/>
              </a:rPr>
              <a:t>Google finds the fire. USGS holds the debris-flow physics. Each runs on its own, and neither is watching continuously.</a:t>
            </a:r>
            <a:endParaRPr lang="en-US" sz="1200" dirty="0"/>
          </a:p>
        </p:txBody>
      </p:sp>
      <p:sp>
        <p:nvSpPr>
          <p:cNvPr id="25" name="Shape Card2"/>
          <p:cNvSpPr/>
          <p:nvPr/>
        </p:nvSpPr>
        <p:spPr>
          <a:xfrm>
            <a:off x="548640" y="3840480"/>
            <a:ext cx="5852160" cy="1783080"/>
          </a:xfrm>
          <a:prstGeom prst="roundRect">
            <a:avLst>
              <a:gd name="adj" fmla="val 5641"/>
            </a:avLst>
          </a:prstGeom>
          <a:solidFill>
            <a:srgbClr val="F8E9DE"/>
          </a:solidFill>
          <a:ln/>
        </p:spPr>
      </p:sp>
      <p:sp>
        <p:nvSpPr>
          <p:cNvPr id="26" name="Text Card2 Label"/>
          <p:cNvSpPr/>
          <p:nvPr/>
        </p:nvSpPr>
        <p:spPr>
          <a:xfrm>
            <a:off x="841248" y="4059936"/>
            <a:ext cx="5266944" cy="274320"/>
          </a:xfrm>
          <a:prstGeom prst="rect">
            <a:avLst/>
          </a:prstGeom>
          <a:noFill/>
          <a:ln/>
        </p:spPr>
        <p:txBody>
          <a:bodyPr wrap="square" lIns="0" tIns="0" rIns="0" bIns="0" rtlCol="0" anchor="ctr"/>
          <a:lstStyle/>
          <a:p>
            <a:pPr marL="0" indent="0">
              <a:buNone/>
            </a:pPr>
            <a:r>
              <a:rPr lang="en-US" sz="1200" b="1" kern="0" spc="150" dirty="0">
                <a:solidFill>
                  <a:srgbClr val="C85A28"/>
                </a:solidFill>
                <a:latin typeface="Calibri" pitchFamily="34" charset="0"/>
                <a:ea typeface="Calibri" pitchFamily="34" charset="-122"/>
                <a:cs typeface="Calibri" pitchFamily="34" charset="-120"/>
              </a:rPr>
              <a:t>NOT YET BUILT</a:t>
            </a:r>
            <a:endParaRPr lang="en-US" sz="1200" dirty="0"/>
          </a:p>
        </p:txBody>
      </p:sp>
      <p:sp>
        <p:nvSpPr>
          <p:cNvPr id="27" name="Text Card2 Heading"/>
          <p:cNvSpPr/>
          <p:nvPr/>
        </p:nvSpPr>
        <p:spPr>
          <a:xfrm>
            <a:off x="841248" y="4352544"/>
            <a:ext cx="5266944" cy="365760"/>
          </a:xfrm>
          <a:prstGeom prst="rect">
            <a:avLst/>
          </a:prstGeom>
          <a:noFill/>
          <a:ln/>
        </p:spPr>
        <p:txBody>
          <a:bodyPr wrap="square" lIns="0" tIns="0" rIns="0" bIns="0" rtlCol="0" anchor="ctr"/>
          <a:lstStyle/>
          <a:p>
            <a:pPr marL="0" indent="0">
              <a:buNone/>
            </a:pPr>
            <a:r>
              <a:rPr lang="en-US" sz="1600" b="1" dirty="0">
                <a:solidFill>
                  <a:srgbClr val="1B3A29"/>
                </a:solidFill>
                <a:latin typeface="Century Schoolbook" pitchFamily="34" charset="0"/>
                <a:ea typeface="Century Schoolbook" pitchFamily="34" charset="-122"/>
                <a:cs typeface="Century Schoolbook" pitchFamily="34" charset="-120"/>
              </a:rPr>
              <a:t>One pipeline, always watching</a:t>
            </a:r>
            <a:endParaRPr lang="en-US" sz="1600" dirty="0"/>
          </a:p>
        </p:txBody>
      </p:sp>
      <p:sp>
        <p:nvSpPr>
          <p:cNvPr id="28" name="Text Card2 Body"/>
          <p:cNvSpPr/>
          <p:nvPr/>
        </p:nvSpPr>
        <p:spPr>
          <a:xfrm>
            <a:off x="841248" y="4754880"/>
            <a:ext cx="5266944" cy="731520"/>
          </a:xfrm>
          <a:prstGeom prst="rect">
            <a:avLst/>
          </a:prstGeom>
          <a:noFill/>
          <a:ln/>
        </p:spPr>
        <p:txBody>
          <a:bodyPr wrap="square" lIns="0" tIns="0" rIns="0" bIns="0" rtlCol="0" anchor="t"/>
          <a:lstStyle/>
          <a:p>
            <a:pPr marL="0" indent="0">
              <a:lnSpc>
                <a:spcPct val="108000"/>
              </a:lnSpc>
              <a:buNone/>
            </a:pPr>
            <a:r>
              <a:rPr lang="en-US" sz="1200" dirty="0">
                <a:solidFill>
                  <a:srgbClr val="47564C"/>
                </a:solidFill>
                <a:latin typeface="Calibri" pitchFamily="34" charset="0"/>
                <a:ea typeface="Calibri" pitchFamily="34" charset="-122"/>
                <a:cs typeface="Calibri" pitchFamily="34" charset="-120"/>
              </a:rPr>
              <a:t>A system that connects detection to physics automatically — watching every burn scar, re-checking with every storm.</a:t>
            </a:r>
            <a:endParaRPr lang="en-US" sz="1200" dirty="0"/>
          </a:p>
        </p:txBody>
      </p:sp>
      <p:sp>
        <p:nvSpPr>
          <p:cNvPr id="29" name="Text AskLine"/>
          <p:cNvSpPr/>
          <p:nvPr/>
        </p:nvSpPr>
        <p:spPr>
          <a:xfrm>
            <a:off x="548640" y="5852160"/>
            <a:ext cx="5852160" cy="548640"/>
          </a:xfrm>
          <a:prstGeom prst="rect">
            <a:avLst/>
          </a:prstGeom>
          <a:noFill/>
          <a:ln/>
        </p:spPr>
        <p:txBody>
          <a:bodyPr wrap="square" lIns="0" tIns="0" rIns="0" bIns="0" rtlCol="0" anchor="t"/>
          <a:lstStyle/>
          <a:p>
            <a:pPr marL="0" indent="0">
              <a:lnSpc>
                <a:spcPct val="112000"/>
              </a:lnSpc>
              <a:buNone/>
            </a:pPr>
            <a:r>
              <a:rPr lang="en-US" sz="1500" b="1" dirty="0">
                <a:solidFill>
                  <a:srgbClr val="C85A28"/>
                </a:solidFill>
                <a:latin typeface="Calibri" pitchFamily="34" charset="0"/>
                <a:ea typeface="Calibri" pitchFamily="34" charset="-122"/>
                <a:cs typeface="Calibri" pitchFamily="34" charset="-120"/>
              </a:rPr>
              <a:t>This program builds that connection</a:t>
            </a:r>
            <a:r>
              <a:rPr lang="en-US" sz="1500" dirty="0">
                <a:solidFill>
                  <a:srgbClr val="47564C"/>
                </a:solidFill>
                <a:latin typeface="Calibri" pitchFamily="34" charset="0"/>
                <a:ea typeface="Calibri" pitchFamily="34" charset="-122"/>
                <a:cs typeface="Calibri" pitchFamily="34" charset="-120"/>
              </a:rPr>
              <a:t> — turning two separate pieces into one continuous pipeline.</a:t>
            </a:r>
            <a:endParaRPr lang="en-US" sz="1500" dirty="0"/>
          </a:p>
        </p:txBody>
      </p:sp>
      <p:pic>
        <p:nvPicPr>
          <p:cNvPr id="17" name="Image 3" descr="assets/sunrise_valley_c.png"/>
          <p:cNvPicPr>
            <a:picLocks noChangeAspect="1"/>
          </p:cNvPicPr>
          <p:nvPr/>
        </p:nvPicPr>
        <p:blipFill>
          <a:blip r:embed="rId3"/>
          <a:stretch>
            <a:fillRect/>
          </a:stretch>
        </p:blipFill>
        <p:spPr>
          <a:xfrm>
            <a:off x="6766560" y="1783080"/>
            <a:ext cx="4846320" cy="3337560"/>
          </a:xfrm>
          <a:prstGeom prst="rect">
            <a:avLst/>
          </a:prstGeom>
          <a:effectLst>
            <a:outerShdw blurRad="165100" dist="38100" dir="5400000" algn="bl" rotWithShape="0">
              <a:srgbClr val="2B3B30">
                <a:alpha val="22000"/>
              </a:srgbClr>
            </a:outerShdw>
          </a:effectLst>
        </p:spPr>
      </p:pic>
      <p:sp>
        <p:nvSpPr>
          <p:cNvPr id="18" name="Shape 12"/>
          <p:cNvSpPr/>
          <p:nvPr/>
        </p:nvSpPr>
        <p:spPr>
          <a:xfrm>
            <a:off x="6766560" y="5285232"/>
            <a:ext cx="4846320" cy="1371600"/>
          </a:xfrm>
          <a:prstGeom prst="roundRect">
            <a:avLst>
              <a:gd name="adj" fmla="val 7333"/>
            </a:avLst>
          </a:prstGeom>
          <a:solidFill>
            <a:srgbClr val="E9F1EA"/>
          </a:solidFill>
          <a:ln/>
        </p:spPr>
      </p:sp>
      <p:sp>
        <p:nvSpPr>
          <p:cNvPr id="19" name="Text 13"/>
          <p:cNvSpPr/>
          <p:nvPr/>
        </p:nvSpPr>
        <p:spPr>
          <a:xfrm>
            <a:off x="7086600" y="5394960"/>
            <a:ext cx="4206240" cy="502920"/>
          </a:xfrm>
          <a:prstGeom prst="rect">
            <a:avLst/>
          </a:prstGeom>
          <a:noFill/>
          <a:ln/>
        </p:spPr>
        <p:txBody>
          <a:bodyPr wrap="square" lIns="0" tIns="0" rIns="0" bIns="0" rtlCol="0" anchor="ctr"/>
          <a:lstStyle/>
          <a:p>
            <a:pPr marL="0" indent="0">
              <a:buNone/>
            </a:pPr>
            <a:r>
              <a:rPr lang="en-US" sz="2700" b="1" dirty="0">
                <a:solidFill>
                  <a:srgbClr val="1B3A29"/>
                </a:solidFill>
                <a:latin typeface="Century Schoolbook" pitchFamily="34" charset="0"/>
                <a:ea typeface="Century Schoolbook" pitchFamily="34" charset="-122"/>
                <a:cs typeface="Century Schoolbook" pitchFamily="34" charset="-120"/>
              </a:rPr>
              <a:t>Alluvion</a:t>
            </a:r>
            <a:endParaRPr lang="en-US" sz="2700" dirty="0"/>
          </a:p>
        </p:txBody>
      </p:sp>
      <p:sp>
        <p:nvSpPr>
          <p:cNvPr id="20" name="Text 14"/>
          <p:cNvSpPr/>
          <p:nvPr/>
        </p:nvSpPr>
        <p:spPr>
          <a:xfrm>
            <a:off x="7086600" y="5907024"/>
            <a:ext cx="4297680" cy="658368"/>
          </a:xfrm>
          <a:prstGeom prst="rect">
            <a:avLst/>
          </a:prstGeom>
          <a:noFill/>
          <a:ln/>
        </p:spPr>
        <p:txBody>
          <a:bodyPr wrap="square" lIns="0" tIns="0" rIns="0" bIns="0" rtlCol="0" anchor="t"/>
          <a:lstStyle/>
          <a:p>
            <a:pPr marL="0" indent="0">
              <a:lnSpc>
                <a:spcPct val="108000"/>
              </a:lnSpc>
              <a:buNone/>
            </a:pPr>
            <a:r>
              <a:rPr lang="en-US" sz="1200" i="1" dirty="0">
                <a:solidFill>
                  <a:srgbClr val="47564C"/>
                </a:solidFill>
                <a:latin typeface="Calibri" pitchFamily="34" charset="0"/>
                <a:ea typeface="Calibri" pitchFamily="34" charset="-122"/>
                <a:cs typeface="Calibri" pitchFamily="34" charset="-120"/>
              </a:rPr>
              <a:t>From the moment of the burn to the warning that saves a life — the whole chain, on one planetary stack.</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TotalTime>
  <Words>1501</Words>
  <Application>Microsoft Office PowerPoint</Application>
  <PresentationFormat>Widescreen</PresentationFormat>
  <Paragraphs>173</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Century Schoolbook</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Fahad Asif</cp:lastModifiedBy>
  <cp:revision>11</cp:revision>
  <dcterms:created xsi:type="dcterms:W3CDTF">2026-08-07T05:14:25Z</dcterms:created>
  <dcterms:modified xsi:type="dcterms:W3CDTF">2026-08-10T06:17:36Z</dcterms:modified>
</cp:coreProperties>
</file>